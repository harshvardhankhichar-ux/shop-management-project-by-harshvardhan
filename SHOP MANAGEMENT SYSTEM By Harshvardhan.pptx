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Anton" pitchFamily="2" charset="0"/>
      <p:regular r:id="rId15"/>
    </p:embeddedFont>
    <p:embeddedFont>
      <p:font typeface="Canva Sans" panose="020B0604020202020204" charset="0"/>
      <p:regular r:id="rId16"/>
    </p:embeddedFont>
    <p:embeddedFont>
      <p:font typeface="Canva Sans Bold" panose="020B0604020202020204" charset="0"/>
      <p:regular r:id="rId17"/>
    </p:embeddedFont>
    <p:embeddedFont>
      <p:font typeface="Raleway" pitchFamily="2" charset="0"/>
      <p:regular r:id="rId18"/>
    </p:embeddedFont>
    <p:embeddedFont>
      <p:font typeface="Raleway Bold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20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537" b="-6537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-1082448" y="-238125"/>
            <a:ext cx="10505229" cy="6524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347"/>
              </a:lnSpc>
              <a:spcBef>
                <a:spcPct val="0"/>
              </a:spcBef>
            </a:pPr>
            <a:r>
              <a:rPr lang="en-US" sz="12391" dirty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 SHOP MANAGEMENT SYSTEM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791256" y="223142"/>
            <a:ext cx="9496744" cy="2721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5"/>
              </a:lnSpc>
              <a:spcBef>
                <a:spcPct val="0"/>
              </a:spcBef>
            </a:pPr>
            <a:r>
              <a:rPr lang="en-US" sz="3860" spc="2081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“FROM CODE TO CONVENIENCE – A SMART BILLING SOLUTION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832216" y="3968164"/>
            <a:ext cx="9956324" cy="6701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65"/>
              </a:lnSpc>
              <a:spcBef>
                <a:spcPct val="0"/>
              </a:spcBef>
            </a:pPr>
            <a:r>
              <a:rPr lang="en-US" sz="3975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BY Harshvardhan (25BCG10017)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180321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747394" y="370418"/>
            <a:ext cx="11236201" cy="9101534"/>
          </a:xfrm>
          <a:custGeom>
            <a:avLst/>
            <a:gdLst/>
            <a:ahLst/>
            <a:cxnLst/>
            <a:rect l="l" t="t" r="r" b="b"/>
            <a:pathLst>
              <a:path w="11236201" h="9101534">
                <a:moveTo>
                  <a:pt x="0" y="0"/>
                </a:moveTo>
                <a:lnTo>
                  <a:pt x="11236202" y="0"/>
                </a:lnTo>
                <a:lnTo>
                  <a:pt x="11236202" y="9101534"/>
                </a:lnTo>
                <a:lnTo>
                  <a:pt x="0" y="91015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99" t="-2602" b="-260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077892" y="2950019"/>
            <a:ext cx="3868413" cy="3942331"/>
          </a:xfrm>
          <a:custGeom>
            <a:avLst/>
            <a:gdLst/>
            <a:ahLst/>
            <a:cxnLst/>
            <a:rect l="l" t="t" r="r" b="b"/>
            <a:pathLst>
              <a:path w="3868413" h="3942331">
                <a:moveTo>
                  <a:pt x="0" y="0"/>
                </a:moveTo>
                <a:lnTo>
                  <a:pt x="3868413" y="0"/>
                </a:lnTo>
                <a:lnTo>
                  <a:pt x="3868413" y="3942331"/>
                </a:lnTo>
                <a:lnTo>
                  <a:pt x="0" y="39423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1999"/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-264620" y="170393"/>
            <a:ext cx="7012014" cy="1749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20"/>
              </a:lnSpc>
              <a:spcBef>
                <a:spcPct val="0"/>
              </a:spcBef>
            </a:pPr>
            <a:r>
              <a:rPr lang="en-US" sz="1022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 INTRODUCTION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42022" y="1850065"/>
            <a:ext cx="10541574" cy="6057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40"/>
              </a:lnSpc>
            </a:pPr>
            <a:r>
              <a:rPr lang="en-US" sz="3814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Topic: Shop Management System</a:t>
            </a:r>
          </a:p>
          <a:p>
            <a:pPr algn="l">
              <a:lnSpc>
                <a:spcPts val="5340"/>
              </a:lnSpc>
            </a:pPr>
            <a:r>
              <a:rPr lang="en-US" sz="3814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Language: Python</a:t>
            </a:r>
          </a:p>
          <a:p>
            <a:pPr algn="l">
              <a:lnSpc>
                <a:spcPts val="5340"/>
              </a:lnSpc>
            </a:pPr>
            <a:endParaRPr lang="en-US" sz="3814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algn="l">
              <a:lnSpc>
                <a:spcPts val="5340"/>
              </a:lnSpc>
            </a:pPr>
            <a:r>
              <a:rPr lang="en-US" sz="3814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Goal: Build a digital billing system to manage</a:t>
            </a:r>
          </a:p>
          <a:p>
            <a:pPr algn="l">
              <a:lnSpc>
                <a:spcPts val="5340"/>
              </a:lnSpc>
            </a:pPr>
            <a:endParaRPr lang="en-US" sz="3814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algn="l">
              <a:lnSpc>
                <a:spcPts val="5340"/>
              </a:lnSpc>
            </a:pPr>
            <a:r>
              <a:rPr lang="en-US" sz="3814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items, calculate totals, and save bills automatically.</a:t>
            </a:r>
          </a:p>
          <a:p>
            <a:pPr algn="l">
              <a:lnSpc>
                <a:spcPts val="5340"/>
              </a:lnSpc>
            </a:pPr>
            <a:r>
              <a:rPr lang="en-US" sz="3814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</a:p>
          <a:p>
            <a:pPr algn="l">
              <a:lnSpc>
                <a:spcPts val="5340"/>
              </a:lnSpc>
              <a:spcBef>
                <a:spcPct val="0"/>
              </a:spcBef>
            </a:pPr>
            <a:endParaRPr lang="en-US" sz="3814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180321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7878" y="0"/>
            <a:ext cx="4626676" cy="1708441"/>
          </a:xfrm>
          <a:custGeom>
            <a:avLst/>
            <a:gdLst/>
            <a:ahLst/>
            <a:cxnLst/>
            <a:rect l="l" t="t" r="r" b="b"/>
            <a:pathLst>
              <a:path w="4626676" h="1708441">
                <a:moveTo>
                  <a:pt x="0" y="0"/>
                </a:moveTo>
                <a:lnTo>
                  <a:pt x="4626676" y="0"/>
                </a:lnTo>
                <a:lnTo>
                  <a:pt x="4626676" y="1708441"/>
                </a:lnTo>
                <a:lnTo>
                  <a:pt x="0" y="17084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01956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-2611008" y="329617"/>
            <a:ext cx="10132737" cy="969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85"/>
              </a:lnSpc>
            </a:pPr>
            <a:r>
              <a:rPr lang="en-US" sz="6867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OBJECTIVE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654554" y="167692"/>
            <a:ext cx="12968677" cy="9848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49"/>
              </a:lnSpc>
            </a:pPr>
            <a:r>
              <a:rPr lang="en-US" sz="374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To create a digital billing system that helps shopkeepers manage sales easily and accurately using Python.</a:t>
            </a:r>
          </a:p>
          <a:p>
            <a:pPr algn="ctr">
              <a:lnSpc>
                <a:spcPts val="5249"/>
              </a:lnSpc>
            </a:pPr>
            <a:r>
              <a:rPr lang="en-US" sz="374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Our specific objectives are:</a:t>
            </a:r>
          </a:p>
          <a:p>
            <a:pPr algn="ctr">
              <a:lnSpc>
                <a:spcPts val="5249"/>
              </a:lnSpc>
            </a:pPr>
            <a:endParaRPr lang="en-US" sz="3749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algn="ctr">
              <a:lnSpc>
                <a:spcPts val="5249"/>
              </a:lnSpc>
            </a:pPr>
            <a:r>
              <a:rPr lang="en-US" sz="374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1️⃣ To take item details like name, quantity, and price from the user.</a:t>
            </a:r>
          </a:p>
          <a:p>
            <a:pPr algn="ctr">
              <a:lnSpc>
                <a:spcPts val="5249"/>
              </a:lnSpc>
            </a:pPr>
            <a:r>
              <a:rPr lang="en-US" sz="374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2️⃣ To calculate the total and grand total automatically.</a:t>
            </a:r>
          </a:p>
          <a:p>
            <a:pPr algn="ctr">
              <a:lnSpc>
                <a:spcPts val="5249"/>
              </a:lnSpc>
            </a:pPr>
            <a:endParaRPr lang="en-US" sz="3749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algn="ctr">
              <a:lnSpc>
                <a:spcPts val="5249"/>
              </a:lnSpc>
            </a:pPr>
            <a:r>
              <a:rPr lang="en-US" sz="374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3️⃣ To display a well-formatted final bill for the customer.</a:t>
            </a:r>
          </a:p>
          <a:p>
            <a:pPr algn="ctr">
              <a:lnSpc>
                <a:spcPts val="5249"/>
              </a:lnSpc>
            </a:pPr>
            <a:endParaRPr lang="en-US" sz="3749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algn="ctr">
              <a:lnSpc>
                <a:spcPts val="5249"/>
              </a:lnSpc>
            </a:pPr>
            <a:r>
              <a:rPr lang="en-US" sz="374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4️⃣ To save the bill with the current date and time in a text file.</a:t>
            </a:r>
          </a:p>
          <a:p>
            <a:pPr algn="ctr">
              <a:lnSpc>
                <a:spcPts val="5249"/>
              </a:lnSpc>
            </a:pPr>
            <a:r>
              <a:rPr lang="en-US" sz="374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5️⃣ To make the billing process faster, easier, and paperless.</a:t>
            </a:r>
          </a:p>
          <a:p>
            <a:pPr algn="ctr">
              <a:lnSpc>
                <a:spcPts val="5249"/>
              </a:lnSpc>
              <a:spcBef>
                <a:spcPct val="0"/>
              </a:spcBef>
            </a:pPr>
            <a:endParaRPr lang="en-US" sz="3749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925" b="-992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6790773" y="1306552"/>
            <a:ext cx="3086100" cy="3101262"/>
            <a:chOff x="0" y="0"/>
            <a:chExt cx="812800" cy="81679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6793"/>
            </a:xfrm>
            <a:custGeom>
              <a:avLst/>
              <a:gdLst/>
              <a:ahLst/>
              <a:cxnLst/>
              <a:rect l="l" t="t" r="r" b="b"/>
              <a:pathLst>
                <a:path w="812800" h="816793">
                  <a:moveTo>
                    <a:pt x="0" y="0"/>
                  </a:moveTo>
                  <a:lnTo>
                    <a:pt x="812800" y="0"/>
                  </a:lnTo>
                  <a:lnTo>
                    <a:pt x="812800" y="816793"/>
                  </a:lnTo>
                  <a:lnTo>
                    <a:pt x="0" y="816793"/>
                  </a:lnTo>
                  <a:close/>
                </a:path>
              </a:pathLst>
            </a:custGeom>
            <a:gradFill rotWithShape="1">
              <a:gsLst>
                <a:gs pos="0">
                  <a:srgbClr val="365E93">
                    <a:alpha val="34000"/>
                  </a:srgbClr>
                </a:gs>
                <a:gs pos="100000">
                  <a:srgbClr val="AF2BA5">
                    <a:alpha val="34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812800" cy="854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790773" y="108187"/>
            <a:ext cx="3086100" cy="1198366"/>
            <a:chOff x="0" y="0"/>
            <a:chExt cx="812800" cy="31561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315619"/>
            </a:xfrm>
            <a:custGeom>
              <a:avLst/>
              <a:gdLst/>
              <a:ahLst/>
              <a:cxnLst/>
              <a:rect l="l" t="t" r="r" b="b"/>
              <a:pathLst>
                <a:path w="812800" h="315619">
                  <a:moveTo>
                    <a:pt x="0" y="0"/>
                  </a:moveTo>
                  <a:lnTo>
                    <a:pt x="812800" y="0"/>
                  </a:lnTo>
                  <a:lnTo>
                    <a:pt x="812800" y="315619"/>
                  </a:lnTo>
                  <a:lnTo>
                    <a:pt x="0" y="315619"/>
                  </a:lnTo>
                  <a:close/>
                </a:path>
              </a:pathLst>
            </a:custGeom>
            <a:gradFill rotWithShape="1">
              <a:gsLst>
                <a:gs pos="0">
                  <a:srgbClr val="365E93">
                    <a:alpha val="56000"/>
                  </a:srgbClr>
                </a:gs>
                <a:gs pos="100000">
                  <a:srgbClr val="AF2BA5">
                    <a:alpha val="56000"/>
                  </a:srgbClr>
                </a:gs>
              </a:gsLst>
              <a:lin ang="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12800" cy="3537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28133" y="250639"/>
            <a:ext cx="6886707" cy="4119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71"/>
              </a:lnSpc>
            </a:pPr>
            <a:r>
              <a:rPr lang="en-US" sz="9881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TOOLS AND TECHNOLOGIES USED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047039" y="359995"/>
            <a:ext cx="2573569" cy="704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18"/>
              </a:lnSpc>
            </a:pPr>
            <a:r>
              <a:rPr lang="en-US" sz="2449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Programming Language: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127786" y="1668790"/>
            <a:ext cx="2412074" cy="1673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3"/>
              </a:lnSpc>
              <a:spcBef>
                <a:spcPct val="0"/>
              </a:spcBef>
            </a:pPr>
            <a:r>
              <a:rPr lang="en-US" sz="235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Python 3 → main language used to develop the system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41450" y="4341140"/>
            <a:ext cx="6175362" cy="606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3"/>
              </a:lnSpc>
              <a:spcBef>
                <a:spcPct val="0"/>
              </a:spcBef>
            </a:pPr>
            <a:r>
              <a:rPr lang="en-US" sz="359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⚙️ Modules / Libraries Used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13317" y="5076825"/>
            <a:ext cx="8333823" cy="2527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81"/>
              </a:lnSpc>
              <a:spcBef>
                <a:spcPct val="0"/>
              </a:spcBef>
            </a:pPr>
            <a:r>
              <a:rPr lang="en-US" sz="362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1. os Module</a:t>
            </a:r>
            <a:r>
              <a:rPr lang="en-US" sz="362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                                                                                          </a:t>
            </a:r>
          </a:p>
          <a:p>
            <a:pPr algn="ctr">
              <a:lnSpc>
                <a:spcPts val="5081"/>
              </a:lnSpc>
              <a:spcBef>
                <a:spcPct val="0"/>
              </a:spcBef>
            </a:pPr>
            <a:r>
              <a:rPr lang="en-US" sz="362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Used for folder and file management.(os.makedirs("bills", exist_ok=True)                                                    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13317" y="7784974"/>
            <a:ext cx="11708780" cy="2223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67"/>
              </a:lnSpc>
              <a:spcBef>
                <a:spcPct val="0"/>
              </a:spcBef>
            </a:pPr>
            <a:r>
              <a:rPr lang="en-US" sz="3191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2. datetime Module</a:t>
            </a:r>
          </a:p>
          <a:p>
            <a:pPr algn="ctr">
              <a:lnSpc>
                <a:spcPts val="4467"/>
              </a:lnSpc>
              <a:spcBef>
                <a:spcPct val="0"/>
              </a:spcBef>
            </a:pPr>
            <a:r>
              <a:rPr lang="en-US" sz="319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Used to add date and time in the bill. Function used: datetime.now()                                                                                                                                                </a:t>
            </a:r>
          </a:p>
          <a:p>
            <a:pPr algn="ctr">
              <a:lnSpc>
                <a:spcPts val="4467"/>
              </a:lnSpc>
              <a:spcBef>
                <a:spcPct val="0"/>
              </a:spcBef>
            </a:pPr>
            <a:endParaRPr lang="en-US" sz="3191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0619823" y="740184"/>
            <a:ext cx="7498711" cy="7278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855"/>
              </a:lnSpc>
              <a:spcBef>
                <a:spcPct val="0"/>
              </a:spcBef>
            </a:pPr>
            <a:r>
              <a:rPr lang="en-US" sz="346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3. built-in functions (Python core)              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pPr algn="just">
              <a:lnSpc>
                <a:spcPts val="4855"/>
              </a:lnSpc>
              <a:spcBef>
                <a:spcPct val="0"/>
              </a:spcBef>
            </a:pPr>
            <a:r>
              <a:rPr lang="en-US" sz="346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These are part of Python’s default libraries, no installation needed.Used throughout the program:                     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pPr algn="just">
              <a:lnSpc>
                <a:spcPts val="4855"/>
              </a:lnSpc>
              <a:spcBef>
                <a:spcPct val="0"/>
              </a:spcBef>
            </a:pPr>
            <a:r>
              <a:rPr lang="en-US" sz="346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input() → to take data from user    print() → to display output         </a:t>
            </a:r>
          </a:p>
          <a:p>
            <a:pPr algn="just">
              <a:lnSpc>
                <a:spcPts val="4855"/>
              </a:lnSpc>
              <a:spcBef>
                <a:spcPct val="0"/>
              </a:spcBef>
            </a:pPr>
            <a:r>
              <a:rPr lang="en-US" sz="346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open() → to create &amp; write to text files   sum() → to calculate total amount                                                                                                                                                           </a:t>
            </a:r>
          </a:p>
          <a:p>
            <a:pPr algn="just">
              <a:lnSpc>
                <a:spcPts val="4855"/>
              </a:lnSpc>
              <a:spcBef>
                <a:spcPct val="0"/>
              </a:spcBef>
            </a:pPr>
            <a:endParaRPr lang="en-US" sz="3468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4855"/>
              </a:lnSpc>
              <a:spcBef>
                <a:spcPct val="0"/>
              </a:spcBef>
            </a:pPr>
            <a:endParaRPr lang="en-US" sz="3468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180321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574876" y="162185"/>
            <a:ext cx="2220481" cy="1673819"/>
            <a:chOff x="0" y="0"/>
            <a:chExt cx="621464" cy="46846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21464" cy="468465"/>
            </a:xfrm>
            <a:custGeom>
              <a:avLst/>
              <a:gdLst/>
              <a:ahLst/>
              <a:cxnLst/>
              <a:rect l="l" t="t" r="r" b="b"/>
              <a:pathLst>
                <a:path w="621464" h="468465">
                  <a:moveTo>
                    <a:pt x="0" y="0"/>
                  </a:moveTo>
                  <a:lnTo>
                    <a:pt x="621464" y="0"/>
                  </a:lnTo>
                  <a:lnTo>
                    <a:pt x="621464" y="468465"/>
                  </a:lnTo>
                  <a:lnTo>
                    <a:pt x="0" y="468465"/>
                  </a:lnTo>
                  <a:close/>
                </a:path>
              </a:pathLst>
            </a:custGeom>
            <a:gradFill rotWithShape="1">
              <a:gsLst>
                <a:gs pos="0">
                  <a:srgbClr val="365E93">
                    <a:alpha val="56000"/>
                  </a:srgbClr>
                </a:gs>
                <a:gs pos="100000">
                  <a:srgbClr val="AF2BA5">
                    <a:alpha val="56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621464" cy="5065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615191" y="2383979"/>
            <a:ext cx="1967895" cy="1483417"/>
            <a:chOff x="0" y="0"/>
            <a:chExt cx="621464" cy="46846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21464" cy="468465"/>
            </a:xfrm>
            <a:custGeom>
              <a:avLst/>
              <a:gdLst/>
              <a:ahLst/>
              <a:cxnLst/>
              <a:rect l="l" t="t" r="r" b="b"/>
              <a:pathLst>
                <a:path w="621464" h="468465">
                  <a:moveTo>
                    <a:pt x="0" y="0"/>
                  </a:moveTo>
                  <a:lnTo>
                    <a:pt x="621464" y="0"/>
                  </a:lnTo>
                  <a:lnTo>
                    <a:pt x="621464" y="468465"/>
                  </a:lnTo>
                  <a:lnTo>
                    <a:pt x="0" y="468465"/>
                  </a:lnTo>
                  <a:close/>
                </a:path>
              </a:pathLst>
            </a:custGeom>
            <a:gradFill rotWithShape="1">
              <a:gsLst>
                <a:gs pos="0">
                  <a:srgbClr val="365E93">
                    <a:alpha val="56000"/>
                  </a:srgbClr>
                </a:gs>
                <a:gs pos="100000">
                  <a:srgbClr val="AF2BA5">
                    <a:alpha val="56000"/>
                  </a:srgbClr>
                </a:gs>
              </a:gsLst>
              <a:lin ang="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621464" cy="5065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94519" y="4600821"/>
            <a:ext cx="1843088" cy="1427316"/>
            <a:chOff x="0" y="0"/>
            <a:chExt cx="547286" cy="42382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47286" cy="423827"/>
            </a:xfrm>
            <a:custGeom>
              <a:avLst/>
              <a:gdLst/>
              <a:ahLst/>
              <a:cxnLst/>
              <a:rect l="l" t="t" r="r" b="b"/>
              <a:pathLst>
                <a:path w="547286" h="423827">
                  <a:moveTo>
                    <a:pt x="0" y="0"/>
                  </a:moveTo>
                  <a:lnTo>
                    <a:pt x="547286" y="0"/>
                  </a:lnTo>
                  <a:lnTo>
                    <a:pt x="547286" y="423827"/>
                  </a:lnTo>
                  <a:lnTo>
                    <a:pt x="0" y="423827"/>
                  </a:lnTo>
                  <a:close/>
                </a:path>
              </a:pathLst>
            </a:custGeom>
            <a:gradFill rotWithShape="1">
              <a:gsLst>
                <a:gs pos="0">
                  <a:srgbClr val="365E93">
                    <a:alpha val="56000"/>
                  </a:srgbClr>
                </a:gs>
                <a:gs pos="100000">
                  <a:srgbClr val="AF2BA5">
                    <a:alpha val="56000"/>
                  </a:srgbClr>
                </a:gs>
              </a:gsLst>
              <a:lin ang="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547286" cy="4619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73257" y="3239663"/>
            <a:ext cx="6108171" cy="3309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88"/>
              </a:lnSpc>
            </a:pPr>
            <a:r>
              <a:rPr lang="en-US" sz="7971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WORKING PROCESS (FLOW OF PROGRAM)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13068" y="489936"/>
            <a:ext cx="1394611" cy="1076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0"/>
              </a:lnSpc>
            </a:pPr>
            <a:r>
              <a:rPr lang="en-US" sz="2505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1.Input Number of Items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406006" y="407320"/>
            <a:ext cx="5098605" cy="1107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26"/>
              </a:lnSpc>
              <a:spcBef>
                <a:spcPct val="0"/>
              </a:spcBef>
            </a:pPr>
            <a:r>
              <a:rPr lang="en-US" sz="3161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The user enters how many items they want to add.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824323" y="2489993"/>
            <a:ext cx="1572102" cy="1272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22"/>
              </a:lnSpc>
            </a:pPr>
            <a:r>
              <a:rPr lang="en-US" sz="2993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2. Enter Item Details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711066" y="2178692"/>
            <a:ext cx="6840423" cy="2137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3"/>
              </a:lnSpc>
            </a:pPr>
            <a:r>
              <a:rPr lang="en-US" sz="245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→ For each item, the program asks for:</a:t>
            </a:r>
          </a:p>
          <a:p>
            <a:pPr marL="531069" lvl="1" indent="-265534" algn="l">
              <a:lnSpc>
                <a:spcPts val="3443"/>
              </a:lnSpc>
              <a:buFont typeface="Arial"/>
              <a:buChar char="•"/>
            </a:pPr>
            <a:r>
              <a:rPr lang="en-US" sz="245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Item Name</a:t>
            </a:r>
          </a:p>
          <a:p>
            <a:pPr marL="531069" lvl="1" indent="-265534" algn="l">
              <a:lnSpc>
                <a:spcPts val="3443"/>
              </a:lnSpc>
              <a:buFont typeface="Arial"/>
              <a:buChar char="•"/>
            </a:pPr>
            <a:r>
              <a:rPr lang="en-US" sz="245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Quantity</a:t>
            </a:r>
          </a:p>
          <a:p>
            <a:pPr marL="531069" lvl="1" indent="-265534" algn="l">
              <a:lnSpc>
                <a:spcPts val="3443"/>
              </a:lnSpc>
              <a:buFont typeface="Arial"/>
              <a:buChar char="•"/>
            </a:pPr>
            <a:r>
              <a:rPr lang="en-US" sz="245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Price per Item</a:t>
            </a:r>
          </a:p>
          <a:p>
            <a:pPr algn="l">
              <a:lnSpc>
                <a:spcPts val="3443"/>
              </a:lnSpc>
              <a:spcBef>
                <a:spcPct val="0"/>
              </a:spcBef>
            </a:pPr>
            <a:endParaRPr lang="en-US" sz="2459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7670531" y="4728803"/>
            <a:ext cx="1671961" cy="1086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7"/>
              </a:lnSpc>
            </a:pPr>
            <a:r>
              <a:rPr lang="en-US" sz="2538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3️⃣ Calculate Total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795357" y="4939948"/>
            <a:ext cx="8038627" cy="590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03"/>
              </a:lnSpc>
              <a:spcBef>
                <a:spcPct val="0"/>
              </a:spcBef>
            </a:pPr>
            <a:r>
              <a:rPr lang="en-US" sz="335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The total for each item = Quantity × Price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7574876" y="6666311"/>
            <a:ext cx="1800584" cy="1266310"/>
            <a:chOff x="0" y="0"/>
            <a:chExt cx="541613" cy="38090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41613" cy="380904"/>
            </a:xfrm>
            <a:custGeom>
              <a:avLst/>
              <a:gdLst/>
              <a:ahLst/>
              <a:cxnLst/>
              <a:rect l="l" t="t" r="r" b="b"/>
              <a:pathLst>
                <a:path w="541613" h="380904">
                  <a:moveTo>
                    <a:pt x="0" y="0"/>
                  </a:moveTo>
                  <a:lnTo>
                    <a:pt x="541613" y="0"/>
                  </a:lnTo>
                  <a:lnTo>
                    <a:pt x="541613" y="380904"/>
                  </a:lnTo>
                  <a:lnTo>
                    <a:pt x="0" y="380904"/>
                  </a:lnTo>
                  <a:close/>
                </a:path>
              </a:pathLst>
            </a:custGeom>
            <a:gradFill rotWithShape="1">
              <a:gsLst>
                <a:gs pos="0">
                  <a:srgbClr val="365E93">
                    <a:alpha val="56000"/>
                  </a:srgbClr>
                </a:gs>
                <a:gs pos="100000">
                  <a:srgbClr val="AF2BA5">
                    <a:alpha val="56000"/>
                  </a:srgbClr>
                </a:gs>
              </a:gsLst>
              <a:lin ang="0"/>
            </a:gra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541613" cy="4190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7484697" y="6814912"/>
            <a:ext cx="1890763" cy="923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29"/>
              </a:lnSpc>
              <a:spcBef>
                <a:spcPct val="0"/>
              </a:spcBef>
            </a:pPr>
            <a:r>
              <a:rPr lang="en-US" sz="266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4️⃣ Display Final Bill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516389" y="6765864"/>
            <a:ext cx="8821506" cy="1180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program prints all items in a table with totals and grand total.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7578200" y="8581880"/>
            <a:ext cx="1767989" cy="1332726"/>
            <a:chOff x="0" y="0"/>
            <a:chExt cx="621464" cy="46846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21464" cy="468465"/>
            </a:xfrm>
            <a:custGeom>
              <a:avLst/>
              <a:gdLst/>
              <a:ahLst/>
              <a:cxnLst/>
              <a:rect l="l" t="t" r="r" b="b"/>
              <a:pathLst>
                <a:path w="621464" h="468465">
                  <a:moveTo>
                    <a:pt x="0" y="0"/>
                  </a:moveTo>
                  <a:lnTo>
                    <a:pt x="621464" y="0"/>
                  </a:lnTo>
                  <a:lnTo>
                    <a:pt x="621464" y="468465"/>
                  </a:lnTo>
                  <a:lnTo>
                    <a:pt x="0" y="468465"/>
                  </a:lnTo>
                  <a:close/>
                </a:path>
              </a:pathLst>
            </a:custGeom>
            <a:gradFill rotWithShape="1">
              <a:gsLst>
                <a:gs pos="0">
                  <a:srgbClr val="365E93">
                    <a:alpha val="56000"/>
                  </a:srgbClr>
                </a:gs>
                <a:gs pos="100000">
                  <a:srgbClr val="AF2BA5">
                    <a:alpha val="56000"/>
                  </a:srgbClr>
                </a:gs>
              </a:gsLst>
              <a:lin ang="0"/>
            </a:gradFill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621464" cy="5065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7635884" y="8635671"/>
            <a:ext cx="1684895" cy="888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32"/>
              </a:lnSpc>
              <a:spcBef>
                <a:spcPct val="0"/>
              </a:spcBef>
            </a:pPr>
            <a:r>
              <a:rPr lang="en-US" sz="252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5️⃣ Save the Bill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082119" y="8682453"/>
            <a:ext cx="9010928" cy="1252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97"/>
              </a:lnSpc>
              <a:spcBef>
                <a:spcPct val="0"/>
              </a:spcBef>
            </a:pPr>
            <a:r>
              <a:rPr lang="en-US" sz="242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→ The final bill is saved automatically in a folder named “bills”</a:t>
            </a:r>
          </a:p>
          <a:p>
            <a:pPr algn="ctr">
              <a:lnSpc>
                <a:spcPts val="3397"/>
              </a:lnSpc>
              <a:spcBef>
                <a:spcPct val="0"/>
              </a:spcBef>
            </a:pPr>
            <a:r>
              <a:rPr lang="en-US" sz="242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→ The file name contains the current date and time.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180321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121695" y="143118"/>
            <a:ext cx="3365645" cy="709845"/>
          </a:xfrm>
          <a:custGeom>
            <a:avLst/>
            <a:gdLst/>
            <a:ahLst/>
            <a:cxnLst/>
            <a:rect l="l" t="t" r="r" b="b"/>
            <a:pathLst>
              <a:path w="3365645" h="709845">
                <a:moveTo>
                  <a:pt x="0" y="0"/>
                </a:moveTo>
                <a:lnTo>
                  <a:pt x="3365645" y="0"/>
                </a:lnTo>
                <a:lnTo>
                  <a:pt x="3365645" y="709845"/>
                </a:lnTo>
                <a:lnTo>
                  <a:pt x="0" y="7098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7261467" y="2023628"/>
            <a:ext cx="3086100" cy="3086100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BFFFE8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7121695" y="9217382"/>
            <a:ext cx="3365645" cy="709845"/>
          </a:xfrm>
          <a:custGeom>
            <a:avLst/>
            <a:gdLst/>
            <a:ahLst/>
            <a:cxnLst/>
            <a:rect l="l" t="t" r="r" b="b"/>
            <a:pathLst>
              <a:path w="3365645" h="709845">
                <a:moveTo>
                  <a:pt x="0" y="0"/>
                </a:moveTo>
                <a:lnTo>
                  <a:pt x="3365645" y="0"/>
                </a:lnTo>
                <a:lnTo>
                  <a:pt x="3365645" y="709845"/>
                </a:lnTo>
                <a:lnTo>
                  <a:pt x="0" y="7098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5400000">
            <a:off x="11526439" y="2334018"/>
            <a:ext cx="107578" cy="2465320"/>
          </a:xfrm>
          <a:custGeom>
            <a:avLst/>
            <a:gdLst/>
            <a:ahLst/>
            <a:cxnLst/>
            <a:rect l="l" t="t" r="r" b="b"/>
            <a:pathLst>
              <a:path w="107578" h="2465320">
                <a:moveTo>
                  <a:pt x="0" y="0"/>
                </a:moveTo>
                <a:lnTo>
                  <a:pt x="107577" y="0"/>
                </a:lnTo>
                <a:lnTo>
                  <a:pt x="107577" y="2465320"/>
                </a:lnTo>
                <a:lnTo>
                  <a:pt x="0" y="24653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78007">
            <a:off x="12762503" y="3514681"/>
            <a:ext cx="213458" cy="4891753"/>
          </a:xfrm>
          <a:custGeom>
            <a:avLst/>
            <a:gdLst/>
            <a:ahLst/>
            <a:cxnLst/>
            <a:rect l="l" t="t" r="r" b="b"/>
            <a:pathLst>
              <a:path w="213458" h="4891753">
                <a:moveTo>
                  <a:pt x="0" y="0"/>
                </a:moveTo>
                <a:lnTo>
                  <a:pt x="213458" y="0"/>
                </a:lnTo>
                <a:lnTo>
                  <a:pt x="213458" y="4891753"/>
                </a:lnTo>
                <a:lnTo>
                  <a:pt x="0" y="48917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5400000">
            <a:off x="11744980" y="7175566"/>
            <a:ext cx="107578" cy="2465320"/>
          </a:xfrm>
          <a:custGeom>
            <a:avLst/>
            <a:gdLst/>
            <a:ahLst/>
            <a:cxnLst/>
            <a:rect l="l" t="t" r="r" b="b"/>
            <a:pathLst>
              <a:path w="107578" h="2465320">
                <a:moveTo>
                  <a:pt x="0" y="0"/>
                </a:moveTo>
                <a:lnTo>
                  <a:pt x="107578" y="0"/>
                </a:lnTo>
                <a:lnTo>
                  <a:pt x="107578" y="2465321"/>
                </a:lnTo>
                <a:lnTo>
                  <a:pt x="0" y="24653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7686189" y="873311"/>
            <a:ext cx="2105844" cy="1150317"/>
          </a:xfrm>
          <a:custGeom>
            <a:avLst/>
            <a:gdLst/>
            <a:ahLst/>
            <a:cxnLst/>
            <a:rect l="l" t="t" r="r" b="b"/>
            <a:pathLst>
              <a:path w="2105844" h="1150317">
                <a:moveTo>
                  <a:pt x="0" y="0"/>
                </a:moveTo>
                <a:lnTo>
                  <a:pt x="2105844" y="0"/>
                </a:lnTo>
                <a:lnTo>
                  <a:pt x="2105844" y="1150317"/>
                </a:lnTo>
                <a:lnTo>
                  <a:pt x="0" y="11503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6964800" y="4750377"/>
            <a:ext cx="3819509" cy="2029114"/>
          </a:xfrm>
          <a:custGeom>
            <a:avLst/>
            <a:gdLst/>
            <a:ahLst/>
            <a:cxnLst/>
            <a:rect l="l" t="t" r="r" b="b"/>
            <a:pathLst>
              <a:path w="3819509" h="2029114">
                <a:moveTo>
                  <a:pt x="0" y="0"/>
                </a:moveTo>
                <a:lnTo>
                  <a:pt x="3819509" y="0"/>
                </a:lnTo>
                <a:lnTo>
                  <a:pt x="3819509" y="2029114"/>
                </a:lnTo>
                <a:lnTo>
                  <a:pt x="0" y="20291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7001356" y="6176528"/>
            <a:ext cx="3606323" cy="1915859"/>
          </a:xfrm>
          <a:custGeom>
            <a:avLst/>
            <a:gdLst/>
            <a:ahLst/>
            <a:cxnLst/>
            <a:rect l="l" t="t" r="r" b="b"/>
            <a:pathLst>
              <a:path w="3606323" h="1915859">
                <a:moveTo>
                  <a:pt x="0" y="0"/>
                </a:moveTo>
                <a:lnTo>
                  <a:pt x="3606322" y="0"/>
                </a:lnTo>
                <a:lnTo>
                  <a:pt x="3606322" y="1915859"/>
                </a:lnTo>
                <a:lnTo>
                  <a:pt x="0" y="19158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7071393" y="7504086"/>
            <a:ext cx="3606323" cy="1915859"/>
          </a:xfrm>
          <a:custGeom>
            <a:avLst/>
            <a:gdLst/>
            <a:ahLst/>
            <a:cxnLst/>
            <a:rect l="l" t="t" r="r" b="b"/>
            <a:pathLst>
              <a:path w="3606323" h="1915859">
                <a:moveTo>
                  <a:pt x="0" y="0"/>
                </a:moveTo>
                <a:lnTo>
                  <a:pt x="3606322" y="0"/>
                </a:lnTo>
                <a:lnTo>
                  <a:pt x="3606322" y="1915859"/>
                </a:lnTo>
                <a:lnTo>
                  <a:pt x="0" y="19158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8152629" y="119406"/>
            <a:ext cx="1172963" cy="681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43"/>
              </a:lnSpc>
              <a:spcBef>
                <a:spcPct val="0"/>
              </a:spcBef>
            </a:pPr>
            <a:r>
              <a:rPr lang="en-US" sz="403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start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738414" y="1037610"/>
            <a:ext cx="2132206" cy="763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input number of items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259877" y="2517740"/>
            <a:ext cx="1089280" cy="5694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79"/>
              </a:lnSpc>
              <a:spcBef>
                <a:spcPct val="0"/>
              </a:spcBef>
            </a:pPr>
            <a:r>
              <a:rPr lang="en-US" sz="341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more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656157" y="3020557"/>
            <a:ext cx="2691410" cy="117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76"/>
              </a:lnSpc>
              <a:spcBef>
                <a:spcPct val="0"/>
              </a:spcBef>
            </a:pPr>
            <a:r>
              <a:rPr lang="en-US" sz="341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items to input?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829297" y="2441540"/>
            <a:ext cx="1098926" cy="1193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82"/>
              </a:lnSpc>
              <a:spcBef>
                <a:spcPct val="0"/>
              </a:spcBef>
            </a:pPr>
            <a:r>
              <a:rPr lang="en-US" sz="6987">
                <a:solidFill>
                  <a:srgbClr val="EF0C0C"/>
                </a:solidFill>
                <a:latin typeface="Canva Sans"/>
                <a:ea typeface="Canva Sans"/>
                <a:cs typeface="Canva Sans"/>
                <a:sym typeface="Canva Sans"/>
              </a:rPr>
              <a:t>no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686189" y="5252603"/>
            <a:ext cx="2516202" cy="1136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85"/>
              </a:lnSpc>
              <a:spcBef>
                <a:spcPct val="0"/>
              </a:spcBef>
            </a:pPr>
            <a:r>
              <a:rPr lang="en-US" sz="327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input details for item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941134" y="6366955"/>
            <a:ext cx="3382768" cy="1349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44"/>
              </a:lnSpc>
              <a:spcBef>
                <a:spcPct val="0"/>
              </a:spcBef>
            </a:pPr>
            <a:r>
              <a:rPr lang="en-US" sz="388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display final bill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104523" y="7870737"/>
            <a:ext cx="3540063" cy="1115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12"/>
              </a:lnSpc>
              <a:spcBef>
                <a:spcPct val="0"/>
              </a:spcBef>
            </a:pPr>
            <a:r>
              <a:rPr lang="en-US" sz="322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save bill with date and time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923703" y="8931632"/>
            <a:ext cx="1425455" cy="1030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52"/>
              </a:lnSpc>
              <a:spcBef>
                <a:spcPct val="0"/>
              </a:spcBef>
            </a:pPr>
            <a:r>
              <a:rPr lang="en-US" sz="610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end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82520" y="821708"/>
            <a:ext cx="4826943" cy="9791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79"/>
              </a:lnSpc>
              <a:spcBef>
                <a:spcPct val="0"/>
              </a:spcBef>
            </a:pPr>
            <a:r>
              <a:rPr lang="en-US" sz="56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FLOW CHART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180321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471733" y="114300"/>
            <a:ext cx="8027461" cy="1595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39"/>
              </a:lnSpc>
            </a:pPr>
            <a:r>
              <a:rPr lang="en-US" sz="1122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ALGORITHM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0" y="2724542"/>
            <a:ext cx="8895885" cy="6914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43"/>
              </a:lnSpc>
              <a:spcBef>
                <a:spcPct val="0"/>
              </a:spcBef>
            </a:pPr>
            <a:r>
              <a:rPr lang="en-US" sz="303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1.</a:t>
            </a:r>
            <a:r>
              <a:rPr lang="en-US" sz="303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Start program.</a:t>
            </a:r>
          </a:p>
          <a:p>
            <a:pPr algn="ctr">
              <a:lnSpc>
                <a:spcPts val="4243"/>
              </a:lnSpc>
              <a:spcBef>
                <a:spcPct val="0"/>
              </a:spcBef>
            </a:pPr>
            <a:endParaRPr lang="en-US" sz="303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4243"/>
              </a:lnSpc>
              <a:spcBef>
                <a:spcPct val="0"/>
              </a:spcBef>
            </a:pPr>
            <a:r>
              <a:rPr lang="en-US" sz="303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2. </a:t>
            </a:r>
            <a:r>
              <a:rPr lang="en-US" sz="303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Ask user for number of items n.</a:t>
            </a:r>
          </a:p>
          <a:p>
            <a:pPr algn="ctr">
              <a:lnSpc>
                <a:spcPts val="4243"/>
              </a:lnSpc>
              <a:spcBef>
                <a:spcPct val="0"/>
              </a:spcBef>
            </a:pPr>
            <a:endParaRPr lang="en-US" sz="303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4243"/>
              </a:lnSpc>
              <a:spcBef>
                <a:spcPct val="0"/>
              </a:spcBef>
            </a:pPr>
            <a:r>
              <a:rPr lang="en-US" sz="303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3. </a:t>
            </a:r>
            <a:r>
              <a:rPr lang="en-US" sz="303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Initialize empty lists: items, quantities, prices, totals.</a:t>
            </a:r>
          </a:p>
          <a:p>
            <a:pPr algn="ctr">
              <a:lnSpc>
                <a:spcPts val="4243"/>
              </a:lnSpc>
              <a:spcBef>
                <a:spcPct val="0"/>
              </a:spcBef>
            </a:pPr>
            <a:endParaRPr lang="en-US" sz="303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4243"/>
              </a:lnSpc>
              <a:spcBef>
                <a:spcPct val="0"/>
              </a:spcBef>
            </a:pPr>
            <a:r>
              <a:rPr lang="en-US" sz="303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4. </a:t>
            </a:r>
            <a:r>
              <a:rPr lang="en-US" sz="303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For i from 1 to n:</a:t>
            </a:r>
          </a:p>
          <a:p>
            <a:pPr algn="ctr">
              <a:lnSpc>
                <a:spcPts val="4243"/>
              </a:lnSpc>
              <a:spcBef>
                <a:spcPct val="0"/>
              </a:spcBef>
            </a:pPr>
            <a:endParaRPr lang="en-US" sz="303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654360" lvl="1" indent="-327180" algn="ctr">
              <a:lnSpc>
                <a:spcPts val="4243"/>
              </a:lnSpc>
              <a:spcBef>
                <a:spcPct val="0"/>
              </a:spcBef>
              <a:buFont typeface="Arial"/>
              <a:buChar char="•"/>
            </a:pPr>
            <a:r>
              <a:rPr lang="en-US" sz="303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Read name, qty, price.</a:t>
            </a:r>
          </a:p>
          <a:p>
            <a:pPr marL="654360" lvl="1" indent="-327180" algn="ctr">
              <a:lnSpc>
                <a:spcPts val="4243"/>
              </a:lnSpc>
              <a:spcBef>
                <a:spcPct val="0"/>
              </a:spcBef>
              <a:buFont typeface="Arial"/>
              <a:buChar char="•"/>
            </a:pPr>
            <a:r>
              <a:rPr lang="en-US" sz="303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Compute total = qty * price.</a:t>
            </a:r>
          </a:p>
          <a:p>
            <a:pPr marL="654360" lvl="1" indent="-327180" algn="ctr">
              <a:lnSpc>
                <a:spcPts val="4243"/>
              </a:lnSpc>
              <a:spcBef>
                <a:spcPct val="0"/>
              </a:spcBef>
              <a:buFont typeface="Arial"/>
              <a:buChar char="•"/>
            </a:pPr>
            <a:r>
              <a:rPr lang="en-US" sz="303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Append name to items, qty to quantities, price to prices, total to totals.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613760" y="2244807"/>
            <a:ext cx="8455383" cy="66851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3"/>
              </a:lnSpc>
              <a:spcBef>
                <a:spcPct val="0"/>
              </a:spcBef>
            </a:pPr>
            <a:r>
              <a:rPr lang="en-US" sz="343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5. </a:t>
            </a:r>
            <a:r>
              <a:rPr lang="en-US" sz="343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Compute grand_total as sum of totals.</a:t>
            </a:r>
          </a:p>
          <a:p>
            <a:pPr algn="ctr">
              <a:lnSpc>
                <a:spcPts val="4803"/>
              </a:lnSpc>
              <a:spcBef>
                <a:spcPct val="0"/>
              </a:spcBef>
            </a:pPr>
            <a:endParaRPr lang="en-US" sz="343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4803"/>
              </a:lnSpc>
              <a:spcBef>
                <a:spcPct val="0"/>
              </a:spcBef>
            </a:pPr>
            <a:r>
              <a:rPr lang="en-US" sz="343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6. </a:t>
            </a:r>
            <a:r>
              <a:rPr lang="en-US" sz="343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Display formatted bill with item rows and grand_total.</a:t>
            </a:r>
          </a:p>
          <a:p>
            <a:pPr algn="ctr">
              <a:lnSpc>
                <a:spcPts val="4803"/>
              </a:lnSpc>
              <a:spcBef>
                <a:spcPct val="0"/>
              </a:spcBef>
            </a:pPr>
            <a:endParaRPr lang="en-US" sz="343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4803"/>
              </a:lnSpc>
              <a:spcBef>
                <a:spcPct val="0"/>
              </a:spcBef>
            </a:pPr>
            <a:r>
              <a:rPr lang="en-US" sz="343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7. </a:t>
            </a:r>
            <a:r>
              <a:rPr lang="en-US" sz="343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Create folder bills (if not exists).</a:t>
            </a:r>
          </a:p>
          <a:p>
            <a:pPr algn="ctr">
              <a:lnSpc>
                <a:spcPts val="4803"/>
              </a:lnSpc>
              <a:spcBef>
                <a:spcPct val="0"/>
              </a:spcBef>
            </a:pPr>
            <a:endParaRPr lang="en-US" sz="343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4803"/>
              </a:lnSpc>
              <a:spcBef>
                <a:spcPct val="0"/>
              </a:spcBef>
            </a:pPr>
            <a:r>
              <a:rPr lang="en-US" sz="343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8. </a:t>
            </a:r>
            <a:r>
              <a:rPr lang="en-US" sz="343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Create filename with current date &amp; time and save bill to that file.</a:t>
            </a:r>
          </a:p>
          <a:p>
            <a:pPr algn="ctr">
              <a:lnSpc>
                <a:spcPts val="4803"/>
              </a:lnSpc>
              <a:spcBef>
                <a:spcPct val="0"/>
              </a:spcBef>
            </a:pPr>
            <a:endParaRPr lang="en-US" sz="343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4803"/>
              </a:lnSpc>
              <a:spcBef>
                <a:spcPct val="0"/>
              </a:spcBef>
            </a:pPr>
            <a:r>
              <a:rPr lang="en-US" sz="343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9. </a:t>
            </a:r>
            <a:r>
              <a:rPr lang="en-US" sz="343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End program.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180321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3024" y="651363"/>
            <a:ext cx="13540094" cy="7158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52"/>
              </a:lnSpc>
              <a:spcBef>
                <a:spcPct val="0"/>
              </a:spcBef>
            </a:pPr>
            <a:r>
              <a:rPr lang="en-US" sz="318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START</a:t>
            </a:r>
          </a:p>
          <a:p>
            <a:pPr algn="l">
              <a:lnSpc>
                <a:spcPts val="4452"/>
              </a:lnSpc>
              <a:spcBef>
                <a:spcPct val="0"/>
              </a:spcBef>
            </a:pPr>
            <a:r>
              <a:rPr lang="en-US" sz="318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INPUT n</a:t>
            </a:r>
          </a:p>
          <a:p>
            <a:pPr algn="l">
              <a:lnSpc>
                <a:spcPts val="4452"/>
              </a:lnSpc>
              <a:spcBef>
                <a:spcPct val="0"/>
              </a:spcBef>
            </a:pPr>
            <a:r>
              <a:rPr lang="en-US" sz="318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items = []; quantities = []; prices = []; totals = []</a:t>
            </a:r>
          </a:p>
          <a:p>
            <a:pPr algn="l">
              <a:lnSpc>
                <a:spcPts val="4452"/>
              </a:lnSpc>
              <a:spcBef>
                <a:spcPct val="0"/>
              </a:spcBef>
            </a:pPr>
            <a:r>
              <a:rPr lang="en-US" sz="318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FOR i = 1 TO n:</a:t>
            </a:r>
          </a:p>
          <a:p>
            <a:pPr algn="l">
              <a:lnSpc>
                <a:spcPts val="4452"/>
              </a:lnSpc>
              <a:spcBef>
                <a:spcPct val="0"/>
              </a:spcBef>
            </a:pPr>
            <a:r>
              <a:rPr lang="en-US" sz="318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INPUT name</a:t>
            </a:r>
          </a:p>
          <a:p>
            <a:pPr algn="l">
              <a:lnSpc>
                <a:spcPts val="4452"/>
              </a:lnSpc>
              <a:spcBef>
                <a:spcPct val="0"/>
              </a:spcBef>
            </a:pPr>
            <a:r>
              <a:rPr lang="en-US" sz="318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INPUT qty</a:t>
            </a:r>
          </a:p>
          <a:p>
            <a:pPr algn="l">
              <a:lnSpc>
                <a:spcPts val="4032"/>
              </a:lnSpc>
              <a:spcBef>
                <a:spcPct val="0"/>
              </a:spcBef>
            </a:pPr>
            <a:r>
              <a:rPr lang="en-US" sz="288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INPUT price</a:t>
            </a:r>
          </a:p>
          <a:p>
            <a:pPr algn="l">
              <a:lnSpc>
                <a:spcPts val="3892"/>
              </a:lnSpc>
              <a:spcBef>
                <a:spcPct val="0"/>
              </a:spcBef>
            </a:pPr>
            <a:r>
              <a:rPr lang="en-US" sz="278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total = qty * price</a:t>
            </a:r>
          </a:p>
          <a:p>
            <a:pPr algn="l">
              <a:lnSpc>
                <a:spcPts val="4452"/>
              </a:lnSpc>
              <a:spcBef>
                <a:spcPct val="0"/>
              </a:spcBef>
            </a:pPr>
            <a:r>
              <a:rPr lang="en-US" sz="318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APPEND name TO items</a:t>
            </a:r>
          </a:p>
          <a:p>
            <a:pPr algn="l">
              <a:lnSpc>
                <a:spcPts val="4452"/>
              </a:lnSpc>
              <a:spcBef>
                <a:spcPct val="0"/>
              </a:spcBef>
            </a:pPr>
            <a:r>
              <a:rPr lang="en-US" sz="318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APPEND qty TO quantities</a:t>
            </a:r>
          </a:p>
          <a:p>
            <a:pPr algn="l">
              <a:lnSpc>
                <a:spcPts val="4452"/>
              </a:lnSpc>
              <a:spcBef>
                <a:spcPct val="0"/>
              </a:spcBef>
            </a:pPr>
            <a:r>
              <a:rPr lang="en-US" sz="318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APPEND price TO prices</a:t>
            </a:r>
          </a:p>
          <a:p>
            <a:pPr algn="l">
              <a:lnSpc>
                <a:spcPts val="4452"/>
              </a:lnSpc>
              <a:spcBef>
                <a:spcPct val="0"/>
              </a:spcBef>
            </a:pPr>
            <a:r>
              <a:rPr lang="en-US" sz="318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APPEND total TO totals</a:t>
            </a:r>
          </a:p>
          <a:p>
            <a:pPr algn="l">
              <a:lnSpc>
                <a:spcPts val="4452"/>
              </a:lnSpc>
              <a:spcBef>
                <a:spcPct val="0"/>
              </a:spcBef>
            </a:pPr>
            <a:endParaRPr lang="en-US" sz="318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0" y="-95250"/>
            <a:ext cx="3771965" cy="8132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23"/>
              </a:lnSpc>
              <a:spcBef>
                <a:spcPct val="0"/>
              </a:spcBef>
            </a:pPr>
            <a:r>
              <a:rPr lang="en-US" sz="4730">
                <a:solidFill>
                  <a:srgbClr val="EF0C0C"/>
                </a:solidFill>
                <a:latin typeface="Canva Sans"/>
                <a:ea typeface="Canva Sans"/>
                <a:cs typeface="Canva Sans"/>
                <a:sym typeface="Canva Sans"/>
              </a:rPr>
              <a:t>Pseudocode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536171" y="974100"/>
            <a:ext cx="8007846" cy="6655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05"/>
              </a:lnSpc>
              <a:spcBef>
                <a:spcPct val="0"/>
              </a:spcBef>
            </a:pPr>
            <a:r>
              <a:rPr lang="en-US" sz="271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END FOR</a:t>
            </a:r>
          </a:p>
          <a:p>
            <a:pPr algn="l">
              <a:lnSpc>
                <a:spcPts val="3805"/>
              </a:lnSpc>
              <a:spcBef>
                <a:spcPct val="0"/>
              </a:spcBef>
            </a:pPr>
            <a:r>
              <a:rPr lang="en-US" sz="271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grand_total = SUM(totals)</a:t>
            </a:r>
          </a:p>
          <a:p>
            <a:pPr algn="l">
              <a:lnSpc>
                <a:spcPts val="3805"/>
              </a:lnSpc>
              <a:spcBef>
                <a:spcPct val="0"/>
              </a:spcBef>
            </a:pPr>
            <a:r>
              <a:rPr lang="en-US" sz="271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DISPLAY header</a:t>
            </a:r>
          </a:p>
          <a:p>
            <a:pPr algn="l">
              <a:lnSpc>
                <a:spcPts val="3805"/>
              </a:lnSpc>
              <a:spcBef>
                <a:spcPct val="0"/>
              </a:spcBef>
            </a:pPr>
            <a:r>
              <a:rPr lang="en-US" sz="271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FOR each index i in 0..n-1:</a:t>
            </a:r>
          </a:p>
          <a:p>
            <a:pPr algn="l">
              <a:lnSpc>
                <a:spcPts val="3805"/>
              </a:lnSpc>
              <a:spcBef>
                <a:spcPct val="0"/>
              </a:spcBef>
            </a:pPr>
            <a:r>
              <a:rPr lang="en-US" sz="271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DISPLAY items[i], quantities[i], prices[i], totals[i]</a:t>
            </a:r>
          </a:p>
          <a:p>
            <a:pPr algn="l">
              <a:lnSpc>
                <a:spcPts val="3805"/>
              </a:lnSpc>
              <a:spcBef>
                <a:spcPct val="0"/>
              </a:spcBef>
            </a:pPr>
            <a:r>
              <a:rPr lang="en-US" sz="271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END FOR</a:t>
            </a:r>
          </a:p>
          <a:p>
            <a:pPr algn="l">
              <a:lnSpc>
                <a:spcPts val="3805"/>
              </a:lnSpc>
              <a:spcBef>
                <a:spcPct val="0"/>
              </a:spcBef>
            </a:pPr>
            <a:r>
              <a:rPr lang="en-US" sz="271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DISPLAY "Grand Total =", grand_total</a:t>
            </a:r>
          </a:p>
          <a:p>
            <a:pPr algn="l">
              <a:lnSpc>
                <a:spcPts val="3805"/>
              </a:lnSpc>
              <a:spcBef>
                <a:spcPct val="0"/>
              </a:spcBef>
            </a:pPr>
            <a:r>
              <a:rPr lang="en-US" sz="271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IF folder "bills" DOES NOT EXIST:</a:t>
            </a:r>
          </a:p>
          <a:p>
            <a:pPr algn="l">
              <a:lnSpc>
                <a:spcPts val="3805"/>
              </a:lnSpc>
              <a:spcBef>
                <a:spcPct val="0"/>
              </a:spcBef>
            </a:pPr>
            <a:r>
              <a:rPr lang="en-US" sz="271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CREATE folder "bills"</a:t>
            </a:r>
          </a:p>
          <a:p>
            <a:pPr algn="l">
              <a:lnSpc>
                <a:spcPts val="3805"/>
              </a:lnSpc>
              <a:spcBef>
                <a:spcPct val="0"/>
              </a:spcBef>
            </a:pPr>
            <a:r>
              <a:rPr lang="en-US" sz="271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END IF</a:t>
            </a:r>
          </a:p>
          <a:p>
            <a:pPr algn="l">
              <a:lnSpc>
                <a:spcPts val="3805"/>
              </a:lnSpc>
              <a:spcBef>
                <a:spcPct val="0"/>
              </a:spcBef>
            </a:pPr>
            <a:r>
              <a:rPr lang="en-US" sz="271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timestamp = CURRENT_DATETIME()</a:t>
            </a:r>
          </a:p>
          <a:p>
            <a:pPr algn="l">
              <a:lnSpc>
                <a:spcPts val="3805"/>
              </a:lnSpc>
              <a:spcBef>
                <a:spcPct val="0"/>
              </a:spcBef>
            </a:pPr>
            <a:r>
              <a:rPr lang="en-US" sz="271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filename = "bills/bill_" + timestamp + ".txt"</a:t>
            </a:r>
          </a:p>
          <a:p>
            <a:pPr algn="l">
              <a:lnSpc>
                <a:spcPts val="3805"/>
              </a:lnSpc>
              <a:spcBef>
                <a:spcPct val="0"/>
              </a:spcBef>
            </a:pPr>
            <a:r>
              <a:rPr lang="en-US" sz="271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SAVE bill content TO filename</a:t>
            </a:r>
          </a:p>
          <a:p>
            <a:pPr algn="l">
              <a:lnSpc>
                <a:spcPts val="3805"/>
              </a:lnSpc>
              <a:spcBef>
                <a:spcPct val="0"/>
              </a:spcBef>
            </a:pPr>
            <a:r>
              <a:rPr lang="en-US" sz="271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END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180321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948705" y="-52486"/>
            <a:ext cx="6417469" cy="688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43"/>
              </a:lnSpc>
              <a:spcBef>
                <a:spcPct val="0"/>
              </a:spcBef>
            </a:pPr>
            <a:r>
              <a:rPr lang="en-US" sz="403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Python Code (Main Logic)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95146" y="333506"/>
            <a:ext cx="8698855" cy="9581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64"/>
              </a:lnSpc>
              <a:spcBef>
                <a:spcPct val="0"/>
              </a:spcBef>
            </a:pPr>
            <a:r>
              <a:rPr lang="en-US" sz="2260" b="1">
                <a:solidFill>
                  <a:srgbClr val="EF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import os</a:t>
            </a:r>
          </a:p>
          <a:p>
            <a:pPr algn="l">
              <a:lnSpc>
                <a:spcPts val="3164"/>
              </a:lnSpc>
              <a:spcBef>
                <a:spcPct val="0"/>
              </a:spcBef>
            </a:pPr>
            <a:r>
              <a:rPr lang="en-US" sz="2260" b="1">
                <a:solidFill>
                  <a:srgbClr val="EF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from datetime import datetime</a:t>
            </a:r>
          </a:p>
          <a:p>
            <a:pPr algn="l">
              <a:lnSpc>
                <a:spcPts val="3164"/>
              </a:lnSpc>
              <a:spcBef>
                <a:spcPct val="0"/>
              </a:spcBef>
            </a:pPr>
            <a:endParaRPr lang="en-US" sz="2260" b="1">
              <a:solidFill>
                <a:srgbClr val="EF0C0C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3164"/>
              </a:lnSpc>
              <a:spcBef>
                <a:spcPct val="0"/>
              </a:spcBef>
            </a:pPr>
            <a:r>
              <a:rPr lang="en-US" sz="2260" b="1">
                <a:solidFill>
                  <a:srgbClr val="EF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def safe_int(prompt):</a:t>
            </a:r>
          </a:p>
          <a:p>
            <a:pPr algn="l">
              <a:lnSpc>
                <a:spcPts val="3164"/>
              </a:lnSpc>
              <a:spcBef>
                <a:spcPct val="0"/>
              </a:spcBef>
            </a:pPr>
            <a:r>
              <a:rPr lang="en-US" sz="2260" b="1">
                <a:solidFill>
                  <a:srgbClr val="EF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    while True:</a:t>
            </a:r>
          </a:p>
          <a:p>
            <a:pPr algn="l">
              <a:lnSpc>
                <a:spcPts val="3164"/>
              </a:lnSpc>
              <a:spcBef>
                <a:spcPct val="0"/>
              </a:spcBef>
            </a:pPr>
            <a:r>
              <a:rPr lang="en-US" sz="2260" b="1">
                <a:solidFill>
                  <a:srgbClr val="EF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        try:</a:t>
            </a:r>
          </a:p>
          <a:p>
            <a:pPr algn="l">
              <a:lnSpc>
                <a:spcPts val="3164"/>
              </a:lnSpc>
              <a:spcBef>
                <a:spcPct val="0"/>
              </a:spcBef>
            </a:pPr>
            <a:r>
              <a:rPr lang="en-US" sz="2260" b="1">
                <a:solidFill>
                  <a:srgbClr val="EF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            v = int(input(prompt))</a:t>
            </a:r>
          </a:p>
          <a:p>
            <a:pPr algn="l">
              <a:lnSpc>
                <a:spcPts val="3164"/>
              </a:lnSpc>
              <a:spcBef>
                <a:spcPct val="0"/>
              </a:spcBef>
            </a:pPr>
            <a:r>
              <a:rPr lang="en-US" sz="2260" b="1">
                <a:solidFill>
                  <a:srgbClr val="EF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            if v &lt; 0:</a:t>
            </a:r>
          </a:p>
          <a:p>
            <a:pPr algn="l">
              <a:lnSpc>
                <a:spcPts val="3164"/>
              </a:lnSpc>
              <a:spcBef>
                <a:spcPct val="0"/>
              </a:spcBef>
            </a:pPr>
            <a:r>
              <a:rPr lang="en-US" sz="2260" b="1">
                <a:solidFill>
                  <a:srgbClr val="EF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                print("Please enter a non-negative integer.")</a:t>
            </a:r>
          </a:p>
          <a:p>
            <a:pPr algn="l">
              <a:lnSpc>
                <a:spcPts val="3164"/>
              </a:lnSpc>
              <a:spcBef>
                <a:spcPct val="0"/>
              </a:spcBef>
            </a:pPr>
            <a:r>
              <a:rPr lang="en-US" sz="2260" b="1">
                <a:solidFill>
                  <a:srgbClr val="EF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                continue</a:t>
            </a:r>
          </a:p>
          <a:p>
            <a:pPr algn="l">
              <a:lnSpc>
                <a:spcPts val="3164"/>
              </a:lnSpc>
              <a:spcBef>
                <a:spcPct val="0"/>
              </a:spcBef>
            </a:pPr>
            <a:r>
              <a:rPr lang="en-US" sz="2260" b="1">
                <a:solidFill>
                  <a:srgbClr val="EF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            return v</a:t>
            </a:r>
          </a:p>
          <a:p>
            <a:pPr algn="l">
              <a:lnSpc>
                <a:spcPts val="3164"/>
              </a:lnSpc>
              <a:spcBef>
                <a:spcPct val="0"/>
              </a:spcBef>
            </a:pPr>
            <a:r>
              <a:rPr lang="en-US" sz="2260" b="1">
                <a:solidFill>
                  <a:srgbClr val="EF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        except ValueError:</a:t>
            </a:r>
          </a:p>
          <a:p>
            <a:pPr algn="l">
              <a:lnSpc>
                <a:spcPts val="3164"/>
              </a:lnSpc>
              <a:spcBef>
                <a:spcPct val="0"/>
              </a:spcBef>
            </a:pPr>
            <a:r>
              <a:rPr lang="en-US" sz="2260" b="1">
                <a:solidFill>
                  <a:srgbClr val="EF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            print("Invalid input. Please enter an integer.")</a:t>
            </a:r>
          </a:p>
          <a:p>
            <a:pPr algn="l">
              <a:lnSpc>
                <a:spcPts val="3164"/>
              </a:lnSpc>
              <a:spcBef>
                <a:spcPct val="0"/>
              </a:spcBef>
            </a:pPr>
            <a:endParaRPr lang="en-US" sz="2260" b="1">
              <a:solidFill>
                <a:srgbClr val="EF0C0C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3164"/>
              </a:lnSpc>
              <a:spcBef>
                <a:spcPct val="0"/>
              </a:spcBef>
            </a:pPr>
            <a:r>
              <a:rPr lang="en-US" sz="2260" b="1">
                <a:solidFill>
                  <a:srgbClr val="EF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def safe_float(prompt):</a:t>
            </a:r>
          </a:p>
          <a:p>
            <a:pPr algn="l">
              <a:lnSpc>
                <a:spcPts val="3164"/>
              </a:lnSpc>
              <a:spcBef>
                <a:spcPct val="0"/>
              </a:spcBef>
            </a:pPr>
            <a:r>
              <a:rPr lang="en-US" sz="2260" b="1">
                <a:solidFill>
                  <a:srgbClr val="EF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    while True:</a:t>
            </a:r>
          </a:p>
          <a:p>
            <a:pPr algn="l">
              <a:lnSpc>
                <a:spcPts val="3164"/>
              </a:lnSpc>
              <a:spcBef>
                <a:spcPct val="0"/>
              </a:spcBef>
            </a:pPr>
            <a:r>
              <a:rPr lang="en-US" sz="2260" b="1">
                <a:solidFill>
                  <a:srgbClr val="EF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        try:</a:t>
            </a:r>
          </a:p>
          <a:p>
            <a:pPr algn="l">
              <a:lnSpc>
                <a:spcPts val="3164"/>
              </a:lnSpc>
              <a:spcBef>
                <a:spcPct val="0"/>
              </a:spcBef>
            </a:pPr>
            <a:r>
              <a:rPr lang="en-US" sz="2260" b="1">
                <a:solidFill>
                  <a:srgbClr val="EF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            v = float(input(prompt))</a:t>
            </a:r>
          </a:p>
          <a:p>
            <a:pPr algn="l">
              <a:lnSpc>
                <a:spcPts val="3164"/>
              </a:lnSpc>
              <a:spcBef>
                <a:spcPct val="0"/>
              </a:spcBef>
            </a:pPr>
            <a:r>
              <a:rPr lang="en-US" sz="2260" b="1">
                <a:solidFill>
                  <a:srgbClr val="EF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            if v &lt; 0:</a:t>
            </a:r>
          </a:p>
          <a:p>
            <a:pPr algn="l">
              <a:lnSpc>
                <a:spcPts val="3164"/>
              </a:lnSpc>
              <a:spcBef>
                <a:spcPct val="0"/>
              </a:spcBef>
            </a:pPr>
            <a:r>
              <a:rPr lang="en-US" sz="2260" b="1">
                <a:solidFill>
                  <a:srgbClr val="EF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                print("Please enter a non-negative number.")</a:t>
            </a:r>
          </a:p>
          <a:p>
            <a:pPr algn="l">
              <a:lnSpc>
                <a:spcPts val="3164"/>
              </a:lnSpc>
              <a:spcBef>
                <a:spcPct val="0"/>
              </a:spcBef>
            </a:pPr>
            <a:r>
              <a:rPr lang="en-US" sz="2260" b="1">
                <a:solidFill>
                  <a:srgbClr val="EF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                continue</a:t>
            </a:r>
          </a:p>
          <a:p>
            <a:pPr algn="l">
              <a:lnSpc>
                <a:spcPts val="3164"/>
              </a:lnSpc>
              <a:spcBef>
                <a:spcPct val="0"/>
              </a:spcBef>
            </a:pPr>
            <a:r>
              <a:rPr lang="en-US" sz="2260" b="1">
                <a:solidFill>
                  <a:srgbClr val="EF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            return v</a:t>
            </a:r>
          </a:p>
          <a:p>
            <a:pPr algn="l">
              <a:lnSpc>
                <a:spcPts val="3164"/>
              </a:lnSpc>
              <a:spcBef>
                <a:spcPct val="0"/>
              </a:spcBef>
            </a:pPr>
            <a:r>
              <a:rPr lang="en-US" sz="2260" b="1">
                <a:solidFill>
                  <a:srgbClr val="EF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        except ValueError:</a:t>
            </a:r>
          </a:p>
          <a:p>
            <a:pPr algn="l">
              <a:lnSpc>
                <a:spcPts val="3164"/>
              </a:lnSpc>
              <a:spcBef>
                <a:spcPct val="0"/>
              </a:spcBef>
            </a:pPr>
            <a:r>
              <a:rPr lang="en-US" sz="2260" b="1">
                <a:solidFill>
                  <a:srgbClr val="EF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            print("Invalid input. Please enter a number (e.g. 49.99).")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758221" y="-14386"/>
            <a:ext cx="6506170" cy="10014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55"/>
              </a:lnSpc>
              <a:spcBef>
                <a:spcPct val="0"/>
              </a:spcBef>
            </a:pPr>
            <a:endParaRPr/>
          </a:p>
          <a:p>
            <a:pPr algn="l">
              <a:lnSpc>
                <a:spcPts val="2955"/>
              </a:lnSpc>
              <a:spcBef>
                <a:spcPct val="0"/>
              </a:spcBef>
            </a:pPr>
            <a:r>
              <a:rPr lang="en-US" sz="2110" b="1">
                <a:solidFill>
                  <a:srgbClr val="EF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def format_currency(x):</a:t>
            </a:r>
          </a:p>
          <a:p>
            <a:pPr algn="l">
              <a:lnSpc>
                <a:spcPts val="2955"/>
              </a:lnSpc>
              <a:spcBef>
                <a:spcPct val="0"/>
              </a:spcBef>
            </a:pPr>
            <a:r>
              <a:rPr lang="en-US" sz="2110" b="1">
                <a:solidFill>
                  <a:srgbClr val="EF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    return f"₹ {x:,.2f}"</a:t>
            </a:r>
          </a:p>
          <a:p>
            <a:pPr algn="l">
              <a:lnSpc>
                <a:spcPts val="2955"/>
              </a:lnSpc>
              <a:spcBef>
                <a:spcPct val="0"/>
              </a:spcBef>
            </a:pPr>
            <a:endParaRPr lang="en-US" sz="2110" b="1">
              <a:solidFill>
                <a:srgbClr val="EF0C0C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2955"/>
              </a:lnSpc>
              <a:spcBef>
                <a:spcPct val="0"/>
              </a:spcBef>
            </a:pPr>
            <a:r>
              <a:rPr lang="en-US" sz="2110" b="1">
                <a:solidFill>
                  <a:srgbClr val="EF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def main():</a:t>
            </a:r>
          </a:p>
          <a:p>
            <a:pPr algn="l">
              <a:lnSpc>
                <a:spcPts val="2955"/>
              </a:lnSpc>
              <a:spcBef>
                <a:spcPct val="0"/>
              </a:spcBef>
            </a:pPr>
            <a:r>
              <a:rPr lang="en-US" sz="2110" b="1">
                <a:solidFill>
                  <a:srgbClr val="EF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    print("===================================")</a:t>
            </a:r>
          </a:p>
          <a:p>
            <a:pPr algn="l">
              <a:lnSpc>
                <a:spcPts val="2955"/>
              </a:lnSpc>
              <a:spcBef>
                <a:spcPct val="0"/>
              </a:spcBef>
            </a:pPr>
            <a:r>
              <a:rPr lang="en-US" sz="2110" b="1">
                <a:solidFill>
                  <a:srgbClr val="EF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    print("      SHOP MANAGEMENT SYSTEM       ")</a:t>
            </a:r>
          </a:p>
          <a:p>
            <a:pPr algn="l">
              <a:lnSpc>
                <a:spcPts val="2955"/>
              </a:lnSpc>
              <a:spcBef>
                <a:spcPct val="0"/>
              </a:spcBef>
            </a:pPr>
            <a:r>
              <a:rPr lang="en-US" sz="2110" b="1">
                <a:solidFill>
                  <a:srgbClr val="EF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    print("===================================")</a:t>
            </a:r>
          </a:p>
          <a:p>
            <a:pPr algn="l">
              <a:lnSpc>
                <a:spcPts val="2955"/>
              </a:lnSpc>
              <a:spcBef>
                <a:spcPct val="0"/>
              </a:spcBef>
            </a:pPr>
            <a:endParaRPr lang="en-US" sz="2110" b="1">
              <a:solidFill>
                <a:srgbClr val="EF0C0C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2955"/>
              </a:lnSpc>
              <a:spcBef>
                <a:spcPct val="0"/>
              </a:spcBef>
            </a:pPr>
            <a:r>
              <a:rPr lang="en-US" sz="2110" b="1">
                <a:solidFill>
                  <a:srgbClr val="EF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    # Step 1: Number of items</a:t>
            </a:r>
          </a:p>
          <a:p>
            <a:pPr algn="l">
              <a:lnSpc>
                <a:spcPts val="2955"/>
              </a:lnSpc>
              <a:spcBef>
                <a:spcPct val="0"/>
              </a:spcBef>
            </a:pPr>
            <a:r>
              <a:rPr lang="en-US" sz="2110" b="1">
                <a:solidFill>
                  <a:srgbClr val="EF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    n = safe_int("Enter number of items: ")</a:t>
            </a:r>
          </a:p>
          <a:p>
            <a:pPr algn="l">
              <a:lnSpc>
                <a:spcPts val="2955"/>
              </a:lnSpc>
              <a:spcBef>
                <a:spcPct val="0"/>
              </a:spcBef>
            </a:pPr>
            <a:r>
              <a:rPr lang="en-US" sz="2110" b="1">
                <a:solidFill>
                  <a:srgbClr val="EF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    if n == 0:</a:t>
            </a:r>
          </a:p>
          <a:p>
            <a:pPr algn="l">
              <a:lnSpc>
                <a:spcPts val="2955"/>
              </a:lnSpc>
              <a:spcBef>
                <a:spcPct val="0"/>
              </a:spcBef>
            </a:pPr>
            <a:r>
              <a:rPr lang="en-US" sz="2110" b="1">
                <a:solidFill>
                  <a:srgbClr val="EF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        print("No items entered. Exiting.")</a:t>
            </a:r>
          </a:p>
          <a:p>
            <a:pPr algn="l">
              <a:lnSpc>
                <a:spcPts val="2955"/>
              </a:lnSpc>
              <a:spcBef>
                <a:spcPct val="0"/>
              </a:spcBef>
            </a:pPr>
            <a:r>
              <a:rPr lang="en-US" sz="2110" b="1">
                <a:solidFill>
                  <a:srgbClr val="EF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        return</a:t>
            </a:r>
          </a:p>
          <a:p>
            <a:pPr algn="l">
              <a:lnSpc>
                <a:spcPts val="2955"/>
              </a:lnSpc>
              <a:spcBef>
                <a:spcPct val="0"/>
              </a:spcBef>
            </a:pPr>
            <a:endParaRPr lang="en-US" sz="2110" b="1">
              <a:solidFill>
                <a:srgbClr val="EF0C0C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2955"/>
              </a:lnSpc>
              <a:spcBef>
                <a:spcPct val="0"/>
              </a:spcBef>
            </a:pPr>
            <a:r>
              <a:rPr lang="en-US" sz="2110" b="1">
                <a:solidFill>
                  <a:srgbClr val="EF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    items = []</a:t>
            </a:r>
          </a:p>
          <a:p>
            <a:pPr algn="l">
              <a:lnSpc>
                <a:spcPts val="2955"/>
              </a:lnSpc>
              <a:spcBef>
                <a:spcPct val="0"/>
              </a:spcBef>
            </a:pPr>
            <a:r>
              <a:rPr lang="en-US" sz="2110" b="1">
                <a:solidFill>
                  <a:srgbClr val="EF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    quantities = []</a:t>
            </a:r>
          </a:p>
          <a:p>
            <a:pPr algn="l">
              <a:lnSpc>
                <a:spcPts val="2955"/>
              </a:lnSpc>
              <a:spcBef>
                <a:spcPct val="0"/>
              </a:spcBef>
            </a:pPr>
            <a:r>
              <a:rPr lang="en-US" sz="2110" b="1">
                <a:solidFill>
                  <a:srgbClr val="EF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    prices = []</a:t>
            </a:r>
          </a:p>
          <a:p>
            <a:pPr algn="l">
              <a:lnSpc>
                <a:spcPts val="2955"/>
              </a:lnSpc>
              <a:spcBef>
                <a:spcPct val="0"/>
              </a:spcBef>
            </a:pPr>
            <a:r>
              <a:rPr lang="en-US" sz="2110" b="1">
                <a:solidFill>
                  <a:srgbClr val="EF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    totals = []</a:t>
            </a:r>
          </a:p>
          <a:p>
            <a:pPr algn="l">
              <a:lnSpc>
                <a:spcPts val="2955"/>
              </a:lnSpc>
              <a:spcBef>
                <a:spcPct val="0"/>
              </a:spcBef>
            </a:pPr>
            <a:endParaRPr lang="en-US" sz="2110" b="1">
              <a:solidFill>
                <a:srgbClr val="EF0C0C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2955"/>
              </a:lnSpc>
              <a:spcBef>
                <a:spcPct val="0"/>
              </a:spcBef>
            </a:pPr>
            <a:r>
              <a:rPr lang="en-US" sz="2110" b="1">
                <a:solidFill>
                  <a:srgbClr val="EF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    # Step 2: Input for each item with validation</a:t>
            </a:r>
          </a:p>
          <a:p>
            <a:pPr algn="l">
              <a:lnSpc>
                <a:spcPts val="2955"/>
              </a:lnSpc>
              <a:spcBef>
                <a:spcPct val="0"/>
              </a:spcBef>
            </a:pPr>
            <a:r>
              <a:rPr lang="en-US" sz="2110" b="1">
                <a:solidFill>
                  <a:srgbClr val="EF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    for i in range(n):</a:t>
            </a:r>
          </a:p>
          <a:p>
            <a:pPr algn="l">
              <a:lnSpc>
                <a:spcPts val="2955"/>
              </a:lnSpc>
              <a:spcBef>
                <a:spcPct val="0"/>
              </a:spcBef>
            </a:pPr>
            <a:r>
              <a:rPr lang="en-US" sz="2110" b="1">
                <a:solidFill>
                  <a:srgbClr val="EF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        print(f"\nEnter details for Item {i+1}:")</a:t>
            </a:r>
          </a:p>
          <a:p>
            <a:pPr algn="l">
              <a:lnSpc>
                <a:spcPts val="2955"/>
              </a:lnSpc>
              <a:spcBef>
                <a:spcPct val="0"/>
              </a:spcBef>
            </a:pPr>
            <a:r>
              <a:rPr lang="en-US" sz="2110" b="1">
                <a:solidFill>
                  <a:srgbClr val="EF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        name = input("Item name: ").strip()</a:t>
            </a:r>
          </a:p>
          <a:p>
            <a:pPr algn="l">
              <a:lnSpc>
                <a:spcPts val="2955"/>
              </a:lnSpc>
              <a:spcBef>
                <a:spcPct val="0"/>
              </a:spcBef>
            </a:pPr>
            <a:r>
              <a:rPr lang="en-US" sz="2110" b="1">
                <a:solidFill>
                  <a:srgbClr val="EF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        if not name:</a:t>
            </a:r>
          </a:p>
          <a:p>
            <a:pPr algn="l">
              <a:lnSpc>
                <a:spcPts val="2955"/>
              </a:lnSpc>
              <a:spcBef>
                <a:spcPct val="0"/>
              </a:spcBef>
            </a:pPr>
            <a:r>
              <a:rPr lang="en-US" sz="2110" b="1">
                <a:solidFill>
                  <a:srgbClr val="EF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            name = f"Item_{i+1}"</a:t>
            </a:r>
          </a:p>
          <a:p>
            <a:pPr algn="l">
              <a:lnSpc>
                <a:spcPts val="2955"/>
              </a:lnSpc>
              <a:spcBef>
                <a:spcPct val="0"/>
              </a:spcBef>
            </a:pPr>
            <a:r>
              <a:rPr lang="en-US" sz="2110" b="1">
                <a:solidFill>
                  <a:srgbClr val="EF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        qty = safe_int("Quantity: ")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180321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-38100"/>
            <a:ext cx="10700967" cy="10217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94"/>
              </a:lnSpc>
              <a:spcBef>
                <a:spcPct val="0"/>
              </a:spcBef>
            </a:pPr>
            <a:r>
              <a:rPr lang="en-US" sz="2353" b="1">
                <a:solidFill>
                  <a:srgbClr val="EF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        price = safe_float("Price per item: ")</a:t>
            </a:r>
          </a:p>
          <a:p>
            <a:pPr algn="l">
              <a:lnSpc>
                <a:spcPts val="3294"/>
              </a:lnSpc>
              <a:spcBef>
                <a:spcPct val="0"/>
              </a:spcBef>
            </a:pPr>
            <a:r>
              <a:rPr lang="en-US" sz="2353" b="1">
                <a:solidFill>
                  <a:srgbClr val="EF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        total = qty * price</a:t>
            </a:r>
          </a:p>
          <a:p>
            <a:pPr algn="l">
              <a:lnSpc>
                <a:spcPts val="3294"/>
              </a:lnSpc>
              <a:spcBef>
                <a:spcPct val="0"/>
              </a:spcBef>
            </a:pPr>
            <a:endParaRPr lang="en-US" sz="2353" b="1">
              <a:solidFill>
                <a:srgbClr val="EF0C0C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3294"/>
              </a:lnSpc>
              <a:spcBef>
                <a:spcPct val="0"/>
              </a:spcBef>
            </a:pPr>
            <a:r>
              <a:rPr lang="en-US" sz="2353" b="1">
                <a:solidFill>
                  <a:srgbClr val="EF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        items.append(name)</a:t>
            </a:r>
          </a:p>
          <a:p>
            <a:pPr algn="l">
              <a:lnSpc>
                <a:spcPts val="3294"/>
              </a:lnSpc>
              <a:spcBef>
                <a:spcPct val="0"/>
              </a:spcBef>
            </a:pPr>
            <a:r>
              <a:rPr lang="en-US" sz="2353" b="1">
                <a:solidFill>
                  <a:srgbClr val="EF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        quantities.append(qty)</a:t>
            </a:r>
          </a:p>
          <a:p>
            <a:pPr algn="l">
              <a:lnSpc>
                <a:spcPts val="3294"/>
              </a:lnSpc>
              <a:spcBef>
                <a:spcPct val="0"/>
              </a:spcBef>
            </a:pPr>
            <a:r>
              <a:rPr lang="en-US" sz="2353" b="1">
                <a:solidFill>
                  <a:srgbClr val="EF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        prices.append(price)</a:t>
            </a:r>
          </a:p>
          <a:p>
            <a:pPr algn="l">
              <a:lnSpc>
                <a:spcPts val="3294"/>
              </a:lnSpc>
              <a:spcBef>
                <a:spcPct val="0"/>
              </a:spcBef>
            </a:pPr>
            <a:r>
              <a:rPr lang="en-US" sz="2353" b="1">
                <a:solidFill>
                  <a:srgbClr val="EF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        totals.append(total)</a:t>
            </a:r>
          </a:p>
          <a:p>
            <a:pPr algn="l">
              <a:lnSpc>
                <a:spcPts val="3294"/>
              </a:lnSpc>
              <a:spcBef>
                <a:spcPct val="0"/>
              </a:spcBef>
            </a:pPr>
            <a:endParaRPr lang="en-US" sz="2353" b="1">
              <a:solidFill>
                <a:srgbClr val="EF0C0C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3294"/>
              </a:lnSpc>
              <a:spcBef>
                <a:spcPct val="0"/>
              </a:spcBef>
            </a:pPr>
            <a:r>
              <a:rPr lang="en-US" sz="2353" b="1">
                <a:solidFill>
                  <a:srgbClr val="EF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    # Step 3: Display final bill</a:t>
            </a:r>
          </a:p>
          <a:p>
            <a:pPr algn="l">
              <a:lnSpc>
                <a:spcPts val="3294"/>
              </a:lnSpc>
              <a:spcBef>
                <a:spcPct val="0"/>
              </a:spcBef>
            </a:pPr>
            <a:r>
              <a:rPr lang="en-US" sz="2353" b="1">
                <a:solidFill>
                  <a:srgbClr val="EF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    print("\n-------------------------------------")</a:t>
            </a:r>
          </a:p>
          <a:p>
            <a:pPr algn="l">
              <a:lnSpc>
                <a:spcPts val="3294"/>
              </a:lnSpc>
              <a:spcBef>
                <a:spcPct val="0"/>
              </a:spcBef>
            </a:pPr>
            <a:r>
              <a:rPr lang="en-US" sz="2353" b="1">
                <a:solidFill>
                  <a:srgbClr val="EF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    print("            FINAL BILL               ")</a:t>
            </a:r>
          </a:p>
          <a:p>
            <a:pPr algn="l">
              <a:lnSpc>
                <a:spcPts val="3294"/>
              </a:lnSpc>
              <a:spcBef>
                <a:spcPct val="0"/>
              </a:spcBef>
            </a:pPr>
            <a:r>
              <a:rPr lang="en-US" sz="2353" b="1">
                <a:solidFill>
                  <a:srgbClr val="EF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    print("-------------------------------------")</a:t>
            </a:r>
          </a:p>
          <a:p>
            <a:pPr algn="l">
              <a:lnSpc>
                <a:spcPts val="3294"/>
              </a:lnSpc>
              <a:spcBef>
                <a:spcPct val="0"/>
              </a:spcBef>
            </a:pPr>
            <a:r>
              <a:rPr lang="en-US" sz="2353" b="1">
                <a:solidFill>
                  <a:srgbClr val="EF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    print(f"{'Item':&lt;20}{'Qty':&lt;8}{'Price':&lt;12}{'Total':&lt;12}")</a:t>
            </a:r>
          </a:p>
          <a:p>
            <a:pPr algn="l">
              <a:lnSpc>
                <a:spcPts val="3294"/>
              </a:lnSpc>
              <a:spcBef>
                <a:spcPct val="0"/>
              </a:spcBef>
            </a:pPr>
            <a:r>
              <a:rPr lang="en-US" sz="2353" b="1">
                <a:solidFill>
                  <a:srgbClr val="EF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    print("-------------------------------------")</a:t>
            </a:r>
          </a:p>
          <a:p>
            <a:pPr algn="l">
              <a:lnSpc>
                <a:spcPts val="3294"/>
              </a:lnSpc>
              <a:spcBef>
                <a:spcPct val="0"/>
              </a:spcBef>
            </a:pPr>
            <a:endParaRPr lang="en-US" sz="2353" b="1">
              <a:solidFill>
                <a:srgbClr val="EF0C0C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3294"/>
              </a:lnSpc>
              <a:spcBef>
                <a:spcPct val="0"/>
              </a:spcBef>
            </a:pPr>
            <a:r>
              <a:rPr lang="en-US" sz="2353" b="1">
                <a:solidFill>
                  <a:srgbClr val="EF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    grand_total = 0.0</a:t>
            </a:r>
          </a:p>
          <a:p>
            <a:pPr algn="l">
              <a:lnSpc>
                <a:spcPts val="3294"/>
              </a:lnSpc>
              <a:spcBef>
                <a:spcPct val="0"/>
              </a:spcBef>
            </a:pPr>
            <a:r>
              <a:rPr lang="en-US" sz="2353" b="1">
                <a:solidFill>
                  <a:srgbClr val="EF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    for i in range(n):</a:t>
            </a:r>
          </a:p>
          <a:p>
            <a:pPr algn="l">
              <a:lnSpc>
                <a:spcPts val="3294"/>
              </a:lnSpc>
              <a:spcBef>
                <a:spcPct val="0"/>
              </a:spcBef>
            </a:pPr>
            <a:r>
              <a:rPr lang="en-US" sz="2353" b="1">
                <a:solidFill>
                  <a:srgbClr val="EF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        print(f"{items[i]:&lt;20}{quantities[i]:&lt;8}{prices[i]:&lt;12.2f}{totals[i]:&lt;12.2f}")</a:t>
            </a:r>
          </a:p>
          <a:p>
            <a:pPr algn="l">
              <a:lnSpc>
                <a:spcPts val="3294"/>
              </a:lnSpc>
              <a:spcBef>
                <a:spcPct val="0"/>
              </a:spcBef>
            </a:pPr>
            <a:r>
              <a:rPr lang="en-US" sz="2353" b="1">
                <a:solidFill>
                  <a:srgbClr val="EF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        grand_total += totals[i]</a:t>
            </a:r>
          </a:p>
          <a:p>
            <a:pPr algn="l">
              <a:lnSpc>
                <a:spcPts val="3294"/>
              </a:lnSpc>
              <a:spcBef>
                <a:spcPct val="0"/>
              </a:spcBef>
            </a:pPr>
            <a:endParaRPr lang="en-US" sz="2353" b="1">
              <a:solidFill>
                <a:srgbClr val="EF0C0C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3294"/>
              </a:lnSpc>
              <a:spcBef>
                <a:spcPct val="0"/>
              </a:spcBef>
            </a:pPr>
            <a:r>
              <a:rPr lang="en-US" sz="2353" b="1">
                <a:solidFill>
                  <a:srgbClr val="EF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    print("-------------------------------------")</a:t>
            </a:r>
          </a:p>
          <a:p>
            <a:pPr algn="l">
              <a:lnSpc>
                <a:spcPts val="3294"/>
              </a:lnSpc>
              <a:spcBef>
                <a:spcPct val="0"/>
              </a:spcBef>
            </a:pPr>
            <a:r>
              <a:rPr lang="en-US" sz="2353" b="1">
                <a:solidFill>
                  <a:srgbClr val="EF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    print(f"{'Grand Total':&lt;40}{grand_total:&gt;10.2f}")</a:t>
            </a:r>
          </a:p>
          <a:p>
            <a:pPr algn="l">
              <a:lnSpc>
                <a:spcPts val="3294"/>
              </a:lnSpc>
              <a:spcBef>
                <a:spcPct val="0"/>
              </a:spcBef>
            </a:pPr>
            <a:r>
              <a:rPr lang="en-US" sz="2353" b="1">
                <a:solidFill>
                  <a:srgbClr val="EF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    print("-------------------------------------")</a:t>
            </a:r>
          </a:p>
          <a:p>
            <a:pPr algn="l">
              <a:lnSpc>
                <a:spcPts val="3294"/>
              </a:lnSpc>
              <a:spcBef>
                <a:spcPct val="0"/>
              </a:spcBef>
            </a:pPr>
            <a:r>
              <a:rPr lang="en-US" sz="2353" b="1">
                <a:solidFill>
                  <a:srgbClr val="EF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    print("Thank you for shopping!")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498177" y="-28575"/>
            <a:ext cx="8789823" cy="10207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2"/>
              </a:lnSpc>
              <a:spcBef>
                <a:spcPct val="0"/>
              </a:spcBef>
            </a:pPr>
            <a:r>
              <a:rPr lang="en-US" sz="1716" b="1">
                <a:solidFill>
                  <a:srgbClr val="EF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 # Step 4: Save bill in 'bills' folder with timestamp and date/time in content</a:t>
            </a:r>
          </a:p>
          <a:p>
            <a:pPr algn="l">
              <a:lnSpc>
                <a:spcPts val="2402"/>
              </a:lnSpc>
              <a:spcBef>
                <a:spcPct val="0"/>
              </a:spcBef>
            </a:pPr>
            <a:r>
              <a:rPr lang="en-US" sz="1716" b="1">
                <a:solidFill>
                  <a:srgbClr val="EF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    folder = "bills"</a:t>
            </a:r>
          </a:p>
          <a:p>
            <a:pPr algn="l">
              <a:lnSpc>
                <a:spcPts val="2402"/>
              </a:lnSpc>
              <a:spcBef>
                <a:spcPct val="0"/>
              </a:spcBef>
            </a:pPr>
            <a:r>
              <a:rPr lang="en-US" sz="1716" b="1">
                <a:solidFill>
                  <a:srgbClr val="EF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    try:</a:t>
            </a:r>
          </a:p>
          <a:p>
            <a:pPr algn="l">
              <a:lnSpc>
                <a:spcPts val="2402"/>
              </a:lnSpc>
              <a:spcBef>
                <a:spcPct val="0"/>
              </a:spcBef>
            </a:pPr>
            <a:r>
              <a:rPr lang="en-US" sz="1716" b="1">
                <a:solidFill>
                  <a:srgbClr val="EF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        os.makedirs(folder, exist_ok=True)</a:t>
            </a:r>
          </a:p>
          <a:p>
            <a:pPr algn="l">
              <a:lnSpc>
                <a:spcPts val="2402"/>
              </a:lnSpc>
              <a:spcBef>
                <a:spcPct val="0"/>
              </a:spcBef>
            </a:pPr>
            <a:r>
              <a:rPr lang="en-US" sz="1716" b="1">
                <a:solidFill>
                  <a:srgbClr val="EF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    except OSError as e:</a:t>
            </a:r>
          </a:p>
          <a:p>
            <a:pPr algn="l">
              <a:lnSpc>
                <a:spcPts val="2402"/>
              </a:lnSpc>
              <a:spcBef>
                <a:spcPct val="0"/>
              </a:spcBef>
            </a:pPr>
            <a:r>
              <a:rPr lang="en-US" sz="1716" b="1">
                <a:solidFill>
                  <a:srgbClr val="EF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        print(f"Error creating folder '{folder}': {e}")</a:t>
            </a:r>
          </a:p>
          <a:p>
            <a:pPr algn="l">
              <a:lnSpc>
                <a:spcPts val="2402"/>
              </a:lnSpc>
              <a:spcBef>
                <a:spcPct val="0"/>
              </a:spcBef>
            </a:pPr>
            <a:r>
              <a:rPr lang="en-US" sz="1716" b="1">
                <a:solidFill>
                  <a:srgbClr val="EF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        return</a:t>
            </a:r>
          </a:p>
          <a:p>
            <a:pPr algn="l">
              <a:lnSpc>
                <a:spcPts val="2402"/>
              </a:lnSpc>
              <a:spcBef>
                <a:spcPct val="0"/>
              </a:spcBef>
            </a:pPr>
            <a:endParaRPr lang="en-US" sz="1716" b="1">
              <a:solidFill>
                <a:srgbClr val="EF0C0C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2402"/>
              </a:lnSpc>
              <a:spcBef>
                <a:spcPct val="0"/>
              </a:spcBef>
            </a:pPr>
            <a:r>
              <a:rPr lang="en-US" sz="1716" b="1">
                <a:solidFill>
                  <a:srgbClr val="EF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    timestamp = datetime.now().strftime("%Y%m%d_%H%M%S")</a:t>
            </a:r>
          </a:p>
          <a:p>
            <a:pPr algn="l">
              <a:lnSpc>
                <a:spcPts val="2402"/>
              </a:lnSpc>
              <a:spcBef>
                <a:spcPct val="0"/>
              </a:spcBef>
            </a:pPr>
            <a:r>
              <a:rPr lang="en-US" sz="1716" b="1">
                <a:solidFill>
                  <a:srgbClr val="EF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    filename = f"bill_{timestamp}.txt"</a:t>
            </a:r>
          </a:p>
          <a:p>
            <a:pPr algn="l">
              <a:lnSpc>
                <a:spcPts val="2402"/>
              </a:lnSpc>
              <a:spcBef>
                <a:spcPct val="0"/>
              </a:spcBef>
            </a:pPr>
            <a:r>
              <a:rPr lang="en-US" sz="1716" b="1">
                <a:solidFill>
                  <a:srgbClr val="EF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    filepath = os.path.join(folder, filename)</a:t>
            </a:r>
          </a:p>
          <a:p>
            <a:pPr algn="l">
              <a:lnSpc>
                <a:spcPts val="2402"/>
              </a:lnSpc>
              <a:spcBef>
                <a:spcPct val="0"/>
              </a:spcBef>
            </a:pPr>
            <a:endParaRPr lang="en-US" sz="1716" b="1">
              <a:solidFill>
                <a:srgbClr val="EF0C0C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2402"/>
              </a:lnSpc>
              <a:spcBef>
                <a:spcPct val="0"/>
              </a:spcBef>
            </a:pPr>
            <a:r>
              <a:rPr lang="en-US" sz="1716" b="1">
                <a:solidFill>
                  <a:srgbClr val="EF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    try:</a:t>
            </a:r>
          </a:p>
          <a:p>
            <a:pPr algn="l">
              <a:lnSpc>
                <a:spcPts val="2402"/>
              </a:lnSpc>
              <a:spcBef>
                <a:spcPct val="0"/>
              </a:spcBef>
            </a:pPr>
            <a:r>
              <a:rPr lang="en-US" sz="1716" b="1">
                <a:solidFill>
                  <a:srgbClr val="EF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        with open(filepath, "w", encoding="utf-8") as f:</a:t>
            </a:r>
          </a:p>
          <a:p>
            <a:pPr algn="l">
              <a:lnSpc>
                <a:spcPts val="2402"/>
              </a:lnSpc>
              <a:spcBef>
                <a:spcPct val="0"/>
              </a:spcBef>
            </a:pPr>
            <a:r>
              <a:rPr lang="en-US" sz="1716" b="1">
                <a:solidFill>
                  <a:srgbClr val="EF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            f.write("===================================\n")</a:t>
            </a:r>
          </a:p>
          <a:p>
            <a:pPr algn="l">
              <a:lnSpc>
                <a:spcPts val="2402"/>
              </a:lnSpc>
              <a:spcBef>
                <a:spcPct val="0"/>
              </a:spcBef>
            </a:pPr>
            <a:r>
              <a:rPr lang="en-US" sz="1716" b="1">
                <a:solidFill>
                  <a:srgbClr val="EF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            f.write("        SHOP MANAGEMENT SYSTEM     \n")</a:t>
            </a:r>
          </a:p>
          <a:p>
            <a:pPr algn="l">
              <a:lnSpc>
                <a:spcPts val="2402"/>
              </a:lnSpc>
              <a:spcBef>
                <a:spcPct val="0"/>
              </a:spcBef>
            </a:pPr>
            <a:r>
              <a:rPr lang="en-US" sz="1716" b="1">
                <a:solidFill>
                  <a:srgbClr val="EF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            f.write("===================================\n\n")</a:t>
            </a:r>
          </a:p>
          <a:p>
            <a:pPr algn="l">
              <a:lnSpc>
                <a:spcPts val="2402"/>
              </a:lnSpc>
              <a:spcBef>
                <a:spcPct val="0"/>
              </a:spcBef>
            </a:pPr>
            <a:r>
              <a:rPr lang="en-US" sz="1716" b="1">
                <a:solidFill>
                  <a:srgbClr val="EF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            f.write(f"Date: {datetime.now().strftime('%Y-%m-%d %H:%M:%S')}\n\n")</a:t>
            </a:r>
          </a:p>
          <a:p>
            <a:pPr algn="l">
              <a:lnSpc>
                <a:spcPts val="2402"/>
              </a:lnSpc>
              <a:spcBef>
                <a:spcPct val="0"/>
              </a:spcBef>
            </a:pPr>
            <a:r>
              <a:rPr lang="en-US" sz="1716" b="1">
                <a:solidFill>
                  <a:srgbClr val="EF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            f.write(f"{'Item':&lt;20}{'Qty':&lt;8}{'Price':&lt;12}{'Total':&lt;12}\n")</a:t>
            </a:r>
          </a:p>
          <a:p>
            <a:pPr algn="l">
              <a:lnSpc>
                <a:spcPts val="2402"/>
              </a:lnSpc>
              <a:spcBef>
                <a:spcPct val="0"/>
              </a:spcBef>
            </a:pPr>
            <a:r>
              <a:rPr lang="en-US" sz="1716" b="1">
                <a:solidFill>
                  <a:srgbClr val="EF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            f.write("-----------------------------------\n")</a:t>
            </a:r>
          </a:p>
          <a:p>
            <a:pPr algn="l">
              <a:lnSpc>
                <a:spcPts val="2402"/>
              </a:lnSpc>
              <a:spcBef>
                <a:spcPct val="0"/>
              </a:spcBef>
            </a:pPr>
            <a:r>
              <a:rPr lang="en-US" sz="1716" b="1">
                <a:solidFill>
                  <a:srgbClr val="EF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            for i in range(n):</a:t>
            </a:r>
          </a:p>
          <a:p>
            <a:pPr algn="l">
              <a:lnSpc>
                <a:spcPts val="2402"/>
              </a:lnSpc>
              <a:spcBef>
                <a:spcPct val="0"/>
              </a:spcBef>
            </a:pPr>
            <a:r>
              <a:rPr lang="en-US" sz="1716" b="1">
                <a:solidFill>
                  <a:srgbClr val="EF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                f.write(f"{items[i]:&lt;20}{quantities[i]:&lt;8}{prices[i]:&lt;12.2f}{totals[i]:&lt;12.2f}\n")</a:t>
            </a:r>
          </a:p>
          <a:p>
            <a:pPr algn="l">
              <a:lnSpc>
                <a:spcPts val="2402"/>
              </a:lnSpc>
              <a:spcBef>
                <a:spcPct val="0"/>
              </a:spcBef>
            </a:pPr>
            <a:r>
              <a:rPr lang="en-US" sz="1716" b="1">
                <a:solidFill>
                  <a:srgbClr val="EF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            f.write("-----------------------------------\n")</a:t>
            </a:r>
          </a:p>
          <a:p>
            <a:pPr algn="l">
              <a:lnSpc>
                <a:spcPts val="2402"/>
              </a:lnSpc>
              <a:spcBef>
                <a:spcPct val="0"/>
              </a:spcBef>
            </a:pPr>
            <a:r>
              <a:rPr lang="en-US" sz="1716" b="1">
                <a:solidFill>
                  <a:srgbClr val="EF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            f.write(f"{'Grand Total':&lt;40}{grand_total:&gt;10.2f}\n")</a:t>
            </a:r>
          </a:p>
          <a:p>
            <a:pPr algn="l">
              <a:lnSpc>
                <a:spcPts val="2402"/>
              </a:lnSpc>
              <a:spcBef>
                <a:spcPct val="0"/>
              </a:spcBef>
            </a:pPr>
            <a:r>
              <a:rPr lang="en-US" sz="1716" b="1">
                <a:solidFill>
                  <a:srgbClr val="EF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            f.write("-----------------------------------\n")</a:t>
            </a:r>
          </a:p>
          <a:p>
            <a:pPr algn="l">
              <a:lnSpc>
                <a:spcPts val="2402"/>
              </a:lnSpc>
              <a:spcBef>
                <a:spcPct val="0"/>
              </a:spcBef>
            </a:pPr>
            <a:r>
              <a:rPr lang="en-US" sz="1716" b="1">
                <a:solidFill>
                  <a:srgbClr val="EF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            f.write("Thank you for shopping!\n")</a:t>
            </a:r>
          </a:p>
          <a:p>
            <a:pPr algn="l">
              <a:lnSpc>
                <a:spcPts val="2402"/>
              </a:lnSpc>
              <a:spcBef>
                <a:spcPct val="0"/>
              </a:spcBef>
            </a:pPr>
            <a:r>
              <a:rPr lang="en-US" sz="1716" b="1">
                <a:solidFill>
                  <a:srgbClr val="EF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        print(f"\n Bill saved successfully inside '{folder}' as '{filename}'.")</a:t>
            </a:r>
          </a:p>
          <a:p>
            <a:pPr algn="l">
              <a:lnSpc>
                <a:spcPts val="2402"/>
              </a:lnSpc>
              <a:spcBef>
                <a:spcPct val="0"/>
              </a:spcBef>
            </a:pPr>
            <a:r>
              <a:rPr lang="en-US" sz="1716" b="1">
                <a:solidFill>
                  <a:srgbClr val="EF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        print(f"Location: {os.path.abspath(filepath)}")</a:t>
            </a:r>
          </a:p>
          <a:p>
            <a:pPr algn="l">
              <a:lnSpc>
                <a:spcPts val="2402"/>
              </a:lnSpc>
              <a:spcBef>
                <a:spcPct val="0"/>
              </a:spcBef>
            </a:pPr>
            <a:r>
              <a:rPr lang="en-US" sz="1716" b="1">
                <a:solidFill>
                  <a:srgbClr val="EF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    except OSError as e:</a:t>
            </a:r>
          </a:p>
          <a:p>
            <a:pPr algn="l">
              <a:lnSpc>
                <a:spcPts val="2402"/>
              </a:lnSpc>
              <a:spcBef>
                <a:spcPct val="0"/>
              </a:spcBef>
            </a:pPr>
            <a:r>
              <a:rPr lang="en-US" sz="1716" b="1">
                <a:solidFill>
                  <a:srgbClr val="EF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        print(f"Error saving bill to '{filepath}': {e}")</a:t>
            </a:r>
          </a:p>
          <a:p>
            <a:pPr algn="l">
              <a:lnSpc>
                <a:spcPts val="2402"/>
              </a:lnSpc>
              <a:spcBef>
                <a:spcPct val="0"/>
              </a:spcBef>
            </a:pPr>
            <a:endParaRPr lang="en-US" sz="1716" b="1">
              <a:solidFill>
                <a:srgbClr val="EF0C0C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2402"/>
              </a:lnSpc>
              <a:spcBef>
                <a:spcPct val="0"/>
              </a:spcBef>
            </a:pPr>
            <a:r>
              <a:rPr lang="en-US" sz="1716" b="1">
                <a:solidFill>
                  <a:srgbClr val="EF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if __name__ == "__main__":</a:t>
            </a:r>
          </a:p>
          <a:p>
            <a:pPr algn="l">
              <a:lnSpc>
                <a:spcPts val="2402"/>
              </a:lnSpc>
              <a:spcBef>
                <a:spcPct val="0"/>
              </a:spcBef>
            </a:pPr>
            <a:r>
              <a:rPr lang="en-US" sz="1716" b="1">
                <a:solidFill>
                  <a:srgbClr val="EF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    main()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180321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45871" y="-123825"/>
            <a:ext cx="6796258" cy="1067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01"/>
              </a:lnSpc>
              <a:spcBef>
                <a:spcPct val="0"/>
              </a:spcBef>
            </a:pPr>
            <a:r>
              <a:rPr lang="en-US" sz="621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Input and Output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140733"/>
            <a:ext cx="6082605" cy="7117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43"/>
              </a:lnSpc>
              <a:spcBef>
                <a:spcPct val="0"/>
              </a:spcBef>
            </a:pPr>
            <a:r>
              <a:rPr lang="en-US" sz="403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Enter number of items: 3</a:t>
            </a:r>
          </a:p>
          <a:p>
            <a:pPr algn="ctr">
              <a:lnSpc>
                <a:spcPts val="5643"/>
              </a:lnSpc>
              <a:spcBef>
                <a:spcPct val="0"/>
              </a:spcBef>
            </a:pPr>
            <a:r>
              <a:rPr lang="en-US" sz="403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Item 1 name: Soap</a:t>
            </a:r>
          </a:p>
          <a:p>
            <a:pPr algn="ctr">
              <a:lnSpc>
                <a:spcPts val="5643"/>
              </a:lnSpc>
              <a:spcBef>
                <a:spcPct val="0"/>
              </a:spcBef>
            </a:pPr>
            <a:r>
              <a:rPr lang="en-US" sz="403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Quantity: 4</a:t>
            </a:r>
          </a:p>
          <a:p>
            <a:pPr algn="ctr">
              <a:lnSpc>
                <a:spcPts val="5643"/>
              </a:lnSpc>
              <a:spcBef>
                <a:spcPct val="0"/>
              </a:spcBef>
            </a:pPr>
            <a:r>
              <a:rPr lang="en-US" sz="403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Price per item: 25</a:t>
            </a:r>
          </a:p>
          <a:p>
            <a:pPr algn="ctr">
              <a:lnSpc>
                <a:spcPts val="5643"/>
              </a:lnSpc>
              <a:spcBef>
                <a:spcPct val="0"/>
              </a:spcBef>
            </a:pPr>
            <a:r>
              <a:rPr lang="en-US" sz="403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Item 2 name: Oil</a:t>
            </a:r>
          </a:p>
          <a:p>
            <a:pPr algn="ctr">
              <a:lnSpc>
                <a:spcPts val="5643"/>
              </a:lnSpc>
              <a:spcBef>
                <a:spcPct val="0"/>
              </a:spcBef>
            </a:pPr>
            <a:r>
              <a:rPr lang="en-US" sz="403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Quantity: 2</a:t>
            </a:r>
          </a:p>
          <a:p>
            <a:pPr algn="ctr">
              <a:lnSpc>
                <a:spcPts val="5643"/>
              </a:lnSpc>
              <a:spcBef>
                <a:spcPct val="0"/>
              </a:spcBef>
            </a:pPr>
            <a:r>
              <a:rPr lang="en-US" sz="403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Price per item: 80</a:t>
            </a:r>
          </a:p>
          <a:p>
            <a:pPr algn="ctr">
              <a:lnSpc>
                <a:spcPts val="5643"/>
              </a:lnSpc>
              <a:spcBef>
                <a:spcPct val="0"/>
              </a:spcBef>
            </a:pPr>
            <a:r>
              <a:rPr lang="en-US" sz="403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Item 3 name: Biscuit</a:t>
            </a:r>
          </a:p>
          <a:p>
            <a:pPr algn="ctr">
              <a:lnSpc>
                <a:spcPts val="5643"/>
              </a:lnSpc>
              <a:spcBef>
                <a:spcPct val="0"/>
              </a:spcBef>
            </a:pPr>
            <a:r>
              <a:rPr lang="en-US" sz="403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Quantity: 5</a:t>
            </a:r>
          </a:p>
          <a:p>
            <a:pPr algn="ctr">
              <a:lnSpc>
                <a:spcPts val="5643"/>
              </a:lnSpc>
              <a:spcBef>
                <a:spcPct val="0"/>
              </a:spcBef>
            </a:pPr>
            <a:r>
              <a:rPr lang="en-US" sz="403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Price per item: 10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608445" y="866775"/>
            <a:ext cx="2923115" cy="1396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385"/>
              </a:lnSpc>
              <a:spcBef>
                <a:spcPct val="0"/>
              </a:spcBef>
            </a:pPr>
            <a:r>
              <a:rPr lang="en-US" sz="813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Input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288085" y="1130701"/>
            <a:ext cx="2438486" cy="935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47"/>
              </a:lnSpc>
              <a:spcBef>
                <a:spcPct val="0"/>
              </a:spcBef>
            </a:pPr>
            <a:r>
              <a:rPr lang="en-US" sz="553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Output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905482" y="1999500"/>
            <a:ext cx="7203692" cy="7696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83"/>
              </a:lnSpc>
              <a:spcBef>
                <a:spcPct val="0"/>
              </a:spcBef>
            </a:pPr>
            <a:r>
              <a:rPr lang="en-US" sz="363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-------------------------------------</a:t>
            </a:r>
          </a:p>
          <a:p>
            <a:pPr algn="ctr">
              <a:lnSpc>
                <a:spcPts val="5083"/>
              </a:lnSpc>
              <a:spcBef>
                <a:spcPct val="0"/>
              </a:spcBef>
            </a:pPr>
            <a:r>
              <a:rPr lang="en-US" sz="363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    FINAL BILL</a:t>
            </a:r>
          </a:p>
          <a:p>
            <a:pPr algn="ctr">
              <a:lnSpc>
                <a:spcPts val="5083"/>
              </a:lnSpc>
              <a:spcBef>
                <a:spcPct val="0"/>
              </a:spcBef>
            </a:pPr>
            <a:r>
              <a:rPr lang="en-US" sz="363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-------------------------------------</a:t>
            </a:r>
          </a:p>
          <a:p>
            <a:pPr algn="ctr">
              <a:lnSpc>
                <a:spcPts val="5083"/>
              </a:lnSpc>
              <a:spcBef>
                <a:spcPct val="0"/>
              </a:spcBef>
            </a:pPr>
            <a:r>
              <a:rPr lang="en-US" sz="363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Item            Qty       Price     Total</a:t>
            </a:r>
          </a:p>
          <a:p>
            <a:pPr algn="ctr">
              <a:lnSpc>
                <a:spcPts val="5083"/>
              </a:lnSpc>
              <a:spcBef>
                <a:spcPct val="0"/>
              </a:spcBef>
            </a:pPr>
            <a:r>
              <a:rPr lang="en-US" sz="363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-------------------------------------</a:t>
            </a:r>
          </a:p>
          <a:p>
            <a:pPr algn="ctr">
              <a:lnSpc>
                <a:spcPts val="5083"/>
              </a:lnSpc>
              <a:spcBef>
                <a:spcPct val="0"/>
              </a:spcBef>
            </a:pPr>
            <a:r>
              <a:rPr lang="en-US" sz="363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Soap            4         25.00     100.00</a:t>
            </a:r>
          </a:p>
          <a:p>
            <a:pPr algn="ctr">
              <a:lnSpc>
                <a:spcPts val="5083"/>
              </a:lnSpc>
              <a:spcBef>
                <a:spcPct val="0"/>
              </a:spcBef>
            </a:pPr>
            <a:r>
              <a:rPr lang="en-US" sz="363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Oil             2         80.00     160.00</a:t>
            </a:r>
          </a:p>
          <a:p>
            <a:pPr algn="ctr">
              <a:lnSpc>
                <a:spcPts val="5083"/>
              </a:lnSpc>
              <a:spcBef>
                <a:spcPct val="0"/>
              </a:spcBef>
            </a:pPr>
            <a:r>
              <a:rPr lang="en-US" sz="363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Biscuit         5         10.00      50.00</a:t>
            </a:r>
          </a:p>
          <a:p>
            <a:pPr algn="ctr">
              <a:lnSpc>
                <a:spcPts val="5083"/>
              </a:lnSpc>
              <a:spcBef>
                <a:spcPct val="0"/>
              </a:spcBef>
            </a:pPr>
            <a:r>
              <a:rPr lang="en-US" sz="363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-------------------------------------</a:t>
            </a:r>
          </a:p>
          <a:p>
            <a:pPr algn="ctr">
              <a:lnSpc>
                <a:spcPts val="5083"/>
              </a:lnSpc>
              <a:spcBef>
                <a:spcPct val="0"/>
              </a:spcBef>
            </a:pPr>
            <a:r>
              <a:rPr lang="en-US" sz="363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Grand Total = ₹ 310.00</a:t>
            </a:r>
          </a:p>
          <a:p>
            <a:pPr algn="ctr">
              <a:lnSpc>
                <a:spcPts val="5083"/>
              </a:lnSpc>
              <a:spcBef>
                <a:spcPct val="0"/>
              </a:spcBef>
            </a:pPr>
            <a:r>
              <a:rPr lang="en-US" sz="363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-------------------------------------</a:t>
            </a:r>
          </a:p>
          <a:p>
            <a:pPr algn="ctr">
              <a:lnSpc>
                <a:spcPts val="5083"/>
              </a:lnSpc>
              <a:spcBef>
                <a:spcPct val="0"/>
              </a:spcBef>
            </a:pPr>
            <a:r>
              <a:rPr lang="en-US" sz="363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Thank you for shopping!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180321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979523"/>
            <a:ext cx="5767319" cy="8059170"/>
          </a:xfrm>
          <a:custGeom>
            <a:avLst/>
            <a:gdLst/>
            <a:ahLst/>
            <a:cxnLst/>
            <a:rect l="l" t="t" r="r" b="b"/>
            <a:pathLst>
              <a:path w="5767319" h="8059170">
                <a:moveTo>
                  <a:pt x="0" y="0"/>
                </a:moveTo>
                <a:lnTo>
                  <a:pt x="5767319" y="0"/>
                </a:lnTo>
                <a:lnTo>
                  <a:pt x="5767319" y="8059169"/>
                </a:lnTo>
                <a:lnTo>
                  <a:pt x="0" y="80591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5178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767319" y="3909279"/>
            <a:ext cx="7887436" cy="1788117"/>
          </a:xfrm>
          <a:custGeom>
            <a:avLst/>
            <a:gdLst/>
            <a:ahLst/>
            <a:cxnLst/>
            <a:rect l="l" t="t" r="r" b="b"/>
            <a:pathLst>
              <a:path w="7887436" h="1788117">
                <a:moveTo>
                  <a:pt x="0" y="0"/>
                </a:moveTo>
                <a:lnTo>
                  <a:pt x="7887436" y="0"/>
                </a:lnTo>
                <a:lnTo>
                  <a:pt x="7887436" y="1788116"/>
                </a:lnTo>
                <a:lnTo>
                  <a:pt x="0" y="17881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11" b="-411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631341" y="5697395"/>
            <a:ext cx="7887436" cy="4196921"/>
          </a:xfrm>
          <a:custGeom>
            <a:avLst/>
            <a:gdLst/>
            <a:ahLst/>
            <a:cxnLst/>
            <a:rect l="l" t="t" r="r" b="b"/>
            <a:pathLst>
              <a:path w="7887436" h="4196921">
                <a:moveTo>
                  <a:pt x="0" y="0"/>
                </a:moveTo>
                <a:lnTo>
                  <a:pt x="7887436" y="0"/>
                </a:lnTo>
                <a:lnTo>
                  <a:pt x="7887436" y="4196921"/>
                </a:lnTo>
                <a:lnTo>
                  <a:pt x="0" y="41969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1655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518777" y="2092667"/>
            <a:ext cx="4769223" cy="6101665"/>
          </a:xfrm>
          <a:custGeom>
            <a:avLst/>
            <a:gdLst/>
            <a:ahLst/>
            <a:cxnLst/>
            <a:rect l="l" t="t" r="r" b="b"/>
            <a:pathLst>
              <a:path w="4769223" h="6101665">
                <a:moveTo>
                  <a:pt x="0" y="0"/>
                </a:moveTo>
                <a:lnTo>
                  <a:pt x="4769223" y="0"/>
                </a:lnTo>
                <a:lnTo>
                  <a:pt x="4769223" y="6101666"/>
                </a:lnTo>
                <a:lnTo>
                  <a:pt x="0" y="61016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767319" y="2739402"/>
            <a:ext cx="7751457" cy="991851"/>
          </a:xfrm>
          <a:custGeom>
            <a:avLst/>
            <a:gdLst/>
            <a:ahLst/>
            <a:cxnLst/>
            <a:rect l="l" t="t" r="r" b="b"/>
            <a:pathLst>
              <a:path w="7751457" h="991851">
                <a:moveTo>
                  <a:pt x="0" y="0"/>
                </a:moveTo>
                <a:lnTo>
                  <a:pt x="7751458" y="0"/>
                </a:lnTo>
                <a:lnTo>
                  <a:pt x="7751458" y="991852"/>
                </a:lnTo>
                <a:lnTo>
                  <a:pt x="0" y="9918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4940" r="-45714" b="-4940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5767319" y="1979523"/>
            <a:ext cx="7751457" cy="650233"/>
          </a:xfrm>
          <a:custGeom>
            <a:avLst/>
            <a:gdLst/>
            <a:ahLst/>
            <a:cxnLst/>
            <a:rect l="l" t="t" r="r" b="b"/>
            <a:pathLst>
              <a:path w="7751457" h="650233">
                <a:moveTo>
                  <a:pt x="0" y="0"/>
                </a:moveTo>
                <a:lnTo>
                  <a:pt x="7751458" y="0"/>
                </a:lnTo>
                <a:lnTo>
                  <a:pt x="7751458" y="650232"/>
                </a:lnTo>
                <a:lnTo>
                  <a:pt x="0" y="65023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20098" y="724554"/>
            <a:ext cx="3630871" cy="10112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10"/>
              </a:lnSpc>
              <a:spcBef>
                <a:spcPct val="0"/>
              </a:spcBef>
            </a:pPr>
            <a:r>
              <a:rPr lang="en-US" sz="293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Terminal showing program run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76212" y="942014"/>
            <a:ext cx="3254276" cy="695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48"/>
              </a:lnSpc>
              <a:spcBef>
                <a:spcPct val="0"/>
              </a:spcBef>
            </a:pPr>
            <a:r>
              <a:rPr lang="en-US" sz="410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File Explorer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137826" y="1192093"/>
            <a:ext cx="3784104" cy="613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open  in Notepad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180321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65177"/>
            <a:ext cx="6781502" cy="794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84"/>
              </a:lnSpc>
              <a:spcBef>
                <a:spcPct val="0"/>
              </a:spcBef>
            </a:pPr>
            <a:r>
              <a:rPr lang="en-US" sz="4703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Features of the Project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0" y="1319212"/>
            <a:ext cx="8438386" cy="2780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98"/>
              </a:lnSpc>
              <a:spcBef>
                <a:spcPct val="0"/>
              </a:spcBef>
            </a:pPr>
            <a:r>
              <a:rPr lang="en-US" sz="264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✅ Automatically generates and saves bill files</a:t>
            </a:r>
          </a:p>
          <a:p>
            <a:pPr algn="ctr">
              <a:lnSpc>
                <a:spcPts val="3698"/>
              </a:lnSpc>
              <a:spcBef>
                <a:spcPct val="0"/>
              </a:spcBef>
            </a:pPr>
            <a:r>
              <a:rPr lang="en-US" sz="264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✅ Each bill has unique timestamped name (no overwriting)</a:t>
            </a:r>
          </a:p>
          <a:p>
            <a:pPr algn="ctr">
              <a:lnSpc>
                <a:spcPts val="3698"/>
              </a:lnSpc>
              <a:spcBef>
                <a:spcPct val="0"/>
              </a:spcBef>
            </a:pPr>
            <a:r>
              <a:rPr lang="en-US" sz="264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✅ Displays formatted final bill with totals</a:t>
            </a:r>
          </a:p>
          <a:p>
            <a:pPr algn="ctr">
              <a:lnSpc>
                <a:spcPts val="3698"/>
              </a:lnSpc>
              <a:spcBef>
                <a:spcPct val="0"/>
              </a:spcBef>
            </a:pPr>
            <a:r>
              <a:rPr lang="en-US" sz="264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✅ Simple command-line interface (easy to use)</a:t>
            </a:r>
          </a:p>
          <a:p>
            <a:pPr algn="ctr">
              <a:lnSpc>
                <a:spcPts val="3698"/>
              </a:lnSpc>
              <a:spcBef>
                <a:spcPct val="0"/>
              </a:spcBef>
            </a:pPr>
            <a:r>
              <a:rPr lang="en-US" sz="264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✅ Lightweight and runs on any system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668063" y="6993468"/>
            <a:ext cx="8179669" cy="22294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400"/>
              </a:lnSpc>
              <a:spcBef>
                <a:spcPct val="0"/>
              </a:spcBef>
            </a:pPr>
            <a:endParaRPr lang="en-US" sz="13143" dirty="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8771500" y="6286500"/>
            <a:ext cx="9516500" cy="2326756"/>
          </a:xfrm>
          <a:custGeom>
            <a:avLst/>
            <a:gdLst/>
            <a:ahLst/>
            <a:cxnLst/>
            <a:rect l="l" t="t" r="r" b="b"/>
            <a:pathLst>
              <a:path w="9516500" h="2326756">
                <a:moveTo>
                  <a:pt x="0" y="0"/>
                </a:moveTo>
                <a:lnTo>
                  <a:pt x="9516500" y="0"/>
                </a:lnTo>
                <a:lnTo>
                  <a:pt x="9516500" y="2326756"/>
                </a:lnTo>
                <a:lnTo>
                  <a:pt x="0" y="23267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9534"/>
            </a:stretch>
          </a:blipFill>
        </p:spPr>
        <p:txBody>
          <a:bodyPr/>
          <a:lstStyle/>
          <a:p>
            <a:r>
              <a:rPr lang="en-US" sz="96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Thank  You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22EF4F-16E4-49E6-C035-070BE858EF43}"/>
              </a:ext>
            </a:extLst>
          </p:cNvPr>
          <p:cNvSpPr txBox="1"/>
          <p:nvPr/>
        </p:nvSpPr>
        <p:spPr>
          <a:xfrm>
            <a:off x="9144000" y="1319212"/>
            <a:ext cx="9144000" cy="7958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5819"/>
              </a:lnSpc>
              <a:spcBef>
                <a:spcPct val="0"/>
              </a:spcBef>
            </a:pPr>
            <a:r>
              <a:rPr lang="en-US" sz="44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Harshvardhan (25BCG10017)</a:t>
            </a:r>
            <a:r>
              <a:rPr lang="en-US" sz="1800" b="1" dirty="0">
                <a:solidFill>
                  <a:srgbClr val="EF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   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1663</Words>
  <Application>Microsoft Office PowerPoint</Application>
  <PresentationFormat>Custom</PresentationFormat>
  <Paragraphs>252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Anton</vt:lpstr>
      <vt:lpstr>Raleway Bold</vt:lpstr>
      <vt:lpstr>Canva Sans Bold</vt:lpstr>
      <vt:lpstr>Canva Sans</vt:lpstr>
      <vt:lpstr>Arial</vt:lpstr>
      <vt:lpstr>Calibri</vt:lpstr>
      <vt:lpstr>Raleway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SHOP MANAGEMENT SYSTEM</dc:title>
  <cp:lastModifiedBy>Harshvardhan Khichar</cp:lastModifiedBy>
  <cp:revision>2</cp:revision>
  <dcterms:created xsi:type="dcterms:W3CDTF">2006-08-16T00:00:00Z</dcterms:created>
  <dcterms:modified xsi:type="dcterms:W3CDTF">2025-11-18T13:06:27Z</dcterms:modified>
  <dc:identifier>DAG4UCkRmU0</dc:identifier>
</cp:coreProperties>
</file>